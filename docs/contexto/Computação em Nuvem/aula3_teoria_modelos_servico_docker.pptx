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conectando com a Aula 2. Explique que agora a pergunta muda: depois de escolher o modelo de implantação, precisamos decidir quanto da pilha tecnológica queremos administrar. Avise que a aula terá uma parte conceitual e depois uma prática com Python e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com a frase “na minha máquina funciona” porque todos entendem esse problema. Diga que o objetivo da aula é entender como tirar a aplicação do computador do desenvolvedor e transformá-la em um serviço. A pergunta central é: quanto da infraestrutura queremos gerenciar?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aula é uma ponte. Na Aula 2 eles analisaram a implantação da nuvem. Na Aula 3 eles entram no nível de serviço. Na Aula 4 vão transformar essa análise em estimativa de custo e proposta arquitetural.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Desenhe ou percorra a pilha: aplicação, dados, runtime, sistema operacional, virtualização, servidores, storage, rede e data center. Depois diga: os modelos de serviço existem para dividir essas responsabilidades entre cliente e provedor.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IaaS com o exemplo de uma máquina virtual. O provedor cuida do data center, hardware e virtualização; o cliente cuida do sistema operacional, runtime, aplicação, dados e configurações. Reforce que IaaS dá liberdade, mas cobra maturidade operacional.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PaaS sobe o nível de abstração. A equipe se concentra na aplicação e nos dados. Diga que isso pode ser muito útil para uma equipe pequena, mas não significa que seja sempre a melhor escolha: é preciso verificar custo, limites e requisitos.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SaaS como o nível em que o software já está pronto. Use exemplos próximos: Gmail, Microsoft 365, Google Drive ou CRM. Reforce que mesmo em SaaS o cliente ainda tem responsabilidades, como usuários, permissões e compartilhamentos.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continuum para quebrar a ideia de que existe uma opção melhor. On-premises e IaaS tendem a dar mais controle; PaaS e SaaS reduzem o trabalho operacional. O ponto da engenharia é escolher o equilíbrio correto.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uma distinção fundamental: Docker não é IaaS, PaaS ou nuvem. É uma tecnologia de empacotamento e execução. Ela ajuda a tornar a aplicação portátil, mas ainda precisamos decidir onde esse container vai rodar e quem mantém o ambiente.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prática como continuação da teoria. Eles vão sentir o que é preciso para rodar uma aplicação: dependências, portas, variáveis de ambiente, logs e processo. Depois você usa essa experiência para perguntar: o que um IaaS ou PaaS faria por nós?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Introduza a separação entre segurança da nuvem e segurança na nuvem. Use um exemplo concreto: se o grupo publicar um token no repositório, o problema é de uso e configuração, não do data center do provedor. Isso prepara a aula futura sobre IAM, segredos e firewall.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grupos. Cada grupo escolhe IaaS, PaaS ou SaaS para um cenário e precisa justificar. O objetivo não é decorar definição; é defender uma decisão a partir de requisito, controle, custo e esforço operacional.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Radar ENEM será o contexto de aplicação. Eles ainda não precisam decidir definitivamente a hospedagem, mas precisam formular uma hipótese. A frase com lacuna ajuda a manter a decisão técnica: escolha, motivo e informação ausente.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entrega mínima. O foco é não burocratizar: os alunos entregam os arquivos, uma evidência de funcionamento e uma reflexão curta. Isso também ajuda o projeto incremental, porque o código pode evoluir para a primeira implantação.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retomando a pergunta central: quanto controle queremos e quanto trabalho operacional aceitamos? Em seguida, faça a ponte para a próxima aula: a decisão técnica precisa conversar com custos.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igh_tech_scene_of_a_server_data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090979"/>
            <a:ext cx="4754880" cy="26760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Aula 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85800" y="1115568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 de Serviço 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Conteinerização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13232" y="276148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</a:rPr>
              <a:t>IaaS • PaaS • SaaS • responsabilidade compartilhada • Python + Docker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1520" y="4160520"/>
            <a:ext cx="5394960" cy="100584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Pergunta-chave: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quanto controle queremos e quanto trabalho operacional aceitamos?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6254496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Prof. Felipe Sovernigo • UniSENAI • Computação em Nuvem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clássico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Antes de falar de IaaS, PaaS e SaaS, vamos partir de uma dor real.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“Na minha máquina funciona.”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77240" y="2395728"/>
            <a:ext cx="62179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88920"/>
            <a:ext cx="62179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aplicação depende de Python, bibliotecas, portas e variáveis de ambiente.
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sai do notebook do desenvolvedor, o ambiente precisa ser reproduzível.
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de serviço define quem administra cada camada para a aplicação ficar no ar.
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0" y="1554480"/>
            <a:ext cx="3749040" cy="237744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Pergunta da aula: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quanto controle queremos e quanto trabalho operacional aceitamos?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9520" y="4434840"/>
            <a:ext cx="3749040" cy="749808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Do código ao serviço: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código → runtime → infraestrutura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esta aula se encaixa?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Sequência de decisões arquiteturais da disciplina.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5528" y="1874520"/>
            <a:ext cx="2221992" cy="192024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Aula 2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Modelo de implantação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Pública, privada ou híbrida?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1528" y="2651760"/>
            <a:ext cx="384048" cy="384048"/>
          </a:xfrm>
          <a:prstGeom prst="rightArrow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874520"/>
            <a:ext cx="2221992" cy="192024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Aula 3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Modelo de serviço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IaaS, PaaS ou SaaS?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73152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2651760"/>
            <a:ext cx="384048" cy="384048"/>
          </a:xfrm>
          <a:prstGeom prst="rightArrow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874520"/>
            <a:ext cx="2221992" cy="192024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Aula 4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Custos e arquitetura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Quanto custa e como justificar?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874520"/>
            <a:ext cx="73152" cy="1920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42248" y="2651760"/>
            <a:ext cx="384048" cy="384048"/>
          </a:xfrm>
          <a:prstGeom prst="rightArrow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6608" y="1874520"/>
            <a:ext cx="2221992" cy="192024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Trabalho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Incremento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Arquitetura inicial do Radar ENEM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0" y="1874520"/>
            <a:ext cx="73152" cy="19202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0060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Hoje a decisão não é “qual provedor?”. É “qual nível de abstração faz sentido para o problema?”.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pilha que alguém precisa administrar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Toda aplicação depende de várias camadas técnicas.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3931920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Aplicação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65376"/>
            <a:ext cx="3931920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313432"/>
            <a:ext cx="3931920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Runtime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61488"/>
            <a:ext cx="3931920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Middleware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09544"/>
            <a:ext cx="3931920" cy="420624"/>
          </a:xfrm>
          <a:prstGeom prst="rect">
            <a:avLst/>
          </a:prstGeom>
          <a:solidFill>
            <a:srgbClr val="0D2035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Sistema operacional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3931920" cy="420624"/>
          </a:xfrm>
          <a:prstGeom prst="rect">
            <a:avLst/>
          </a:prstGeom>
          <a:solidFill>
            <a:srgbClr val="0D2035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Virtualização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05656"/>
            <a:ext cx="3931920" cy="420624"/>
          </a:xfrm>
          <a:prstGeom prst="rect">
            <a:avLst/>
          </a:prstGeom>
          <a:solidFill>
            <a:srgbClr val="0D2035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Servidores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553712"/>
            <a:ext cx="3931920" cy="420624"/>
          </a:xfrm>
          <a:prstGeom prst="rect">
            <a:avLst/>
          </a:prstGeom>
          <a:solidFill>
            <a:srgbClr val="0D2035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Armazenamento físico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001768"/>
            <a:ext cx="3931920" cy="420624"/>
          </a:xfrm>
          <a:prstGeom prst="rect">
            <a:avLst/>
          </a:prstGeom>
          <a:solidFill>
            <a:srgbClr val="0D2035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Rede física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449824"/>
            <a:ext cx="3931920" cy="420624"/>
          </a:xfrm>
          <a:prstGeom prst="rect">
            <a:avLst/>
          </a:prstGeom>
          <a:solidFill>
            <a:srgbClr val="0D2035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 center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508760"/>
            <a:ext cx="5257800" cy="114300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Modelo de serviço =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quem administra quais camadas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23560" y="2971800"/>
            <a:ext cx="51206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controle normalmente significa mais responsabilidade operacional.
</a:t>
            </a:r>
            <a:pPr indent="0" marL="0">
              <a:buNone/>
            </a:pPr>
            <a:r>
              <a:rPr lang="en-US" sz="16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abstração reduz trabalho, mas também reduz controle sobre a infraestrutura.
</a:t>
            </a:r>
            <a:pPr indent="0" marL="0">
              <a:buNone/>
            </a:pPr>
            <a:r>
              <a:rPr lang="en-US" sz="16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existe “melhor” universal: existe aderência aos requisitos.
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IaaS — Infrastructure as a Service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Mais controle, mais responsabilidade operacional.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978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Quem administra?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2798064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Aplicação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8BDF8"/>
                </a:solidFill>
              </a:rPr>
              <a:t>Cliente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85800" y="2039112"/>
            <a:ext cx="2798064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Dados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2039112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8BDF8"/>
                </a:solidFill>
              </a:rPr>
              <a:t>Cliente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685800" y="2478024"/>
            <a:ext cx="2798064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Runtime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2478024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8BDF8"/>
                </a:solidFill>
              </a:rPr>
              <a:t>Cliente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85800" y="2916936"/>
            <a:ext cx="2798064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Middleware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2916936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8BDF8"/>
                </a:solidFill>
              </a:rPr>
              <a:t>Cliente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85800" y="3355848"/>
            <a:ext cx="2798064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Sistema operacional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3355848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8BDF8"/>
                </a:solidFill>
              </a:rPr>
              <a:t>Cliente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Virtualização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3794760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85800" y="4233672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Servidores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4233672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85800" y="4672584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Storage físico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160" y="4672584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685800" y="5111496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Rede física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5111496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85800" y="5550408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Data center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66160" y="5550408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486400" y="1508760"/>
            <a:ext cx="5440680" cy="100584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Exemplo mental: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“eu solicito uma máquina virtual e administro o restante”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596128" y="2880360"/>
            <a:ext cx="2359152" cy="14173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Vantagem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Controle sobre SO, bibliotecas, runtime e configuração.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2880360"/>
            <a:ext cx="73152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5048" y="2880360"/>
            <a:ext cx="2542032" cy="14173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Cuidado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Patches, atualizações, segurança e operação ficam com a equipe.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75320" y="2880360"/>
            <a:ext cx="73152" cy="1417320"/>
          </a:xfrm>
          <a:prstGeom prst="rect">
            <a:avLst/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4983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Pergunta para a turma: se a VM Linux não for atualizada, quem responde por isso?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PaaS — Platform as a Service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Menos infraestrutura para administrar; mais foco na aplicação.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978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Quem administra?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2798064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Aplicação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8BDF8"/>
                </a:solidFill>
              </a:rPr>
              <a:t>Cliente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85800" y="2039112"/>
            <a:ext cx="2798064" cy="420624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Dados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2039112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8BDF8"/>
                </a:solidFill>
              </a:rPr>
              <a:t>Cliente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685800" y="2478024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Runtime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2478024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85800" y="2916936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Middleware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2916936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85800" y="3355848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Sistema operacional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3355848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Virtualização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3794760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85800" y="4233672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Servidores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4233672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85800" y="4672584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Storage físico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160" y="4672584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685800" y="5111496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Rede física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5111496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85800" y="5550408"/>
            <a:ext cx="2798064" cy="420624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Data center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66160" y="5550408"/>
            <a:ext cx="1152144" cy="420624"/>
          </a:xfrm>
          <a:prstGeom prst="rect">
            <a:avLst/>
          </a:prstGeom>
          <a:solidFill>
            <a:srgbClr val="081528"/>
          </a:solidFill>
          <a:ln>
            <a:solidFill>
              <a:srgbClr val="1E293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4D399"/>
                </a:solidFill>
              </a:rPr>
              <a:t>Provedor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349240" y="14630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Você entrega código ou contêiner. A plataforma assume boa parte da execução.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50408" y="2423160"/>
            <a:ext cx="2633472" cy="150876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Ganho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Produtividade, deploy mais simples e menor manutenção de infraestrutura.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40680" y="2423160"/>
            <a:ext cx="73152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7928" y="2423160"/>
            <a:ext cx="2633472" cy="150876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Perda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Menos controle, limites da plataforma e possível dependência do provedor.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58200" y="2423160"/>
            <a:ext cx="73152" cy="150876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4846320"/>
            <a:ext cx="5577840" cy="685800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Para o Radar ENEM, PaaS pode ser uma hipótese inicial — mas precisa de justificativa.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SaaS — Software as a Service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Quando o objetivo é usar um software pronto, não construir a pilha.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2377440" cy="7315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Usuário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2029968"/>
            <a:ext cx="914400" cy="50292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600200"/>
            <a:ext cx="2834640" cy="137160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Software pronto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no provedor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18120" y="2029968"/>
            <a:ext cx="914400" cy="502920"/>
          </a:xfrm>
          <a:prstGeom prst="rightArrow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920240"/>
            <a:ext cx="2468880" cy="7315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Resultado de negócio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10424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Exemplos: e-mail corporativo, CRM, planilhas online, ferramentas de colaboração.
</a:t>
            </a:r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cliente ainda gerencia usuários, permissões, dados inseridos e uso adequado.
</a:t>
            </a:r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serve para tudo: se precisamos desenvolver o Radar ENEM, provavelmente não é SaaS.
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 × esforço operacional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decisão arquitetural é um equilíbrio.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3000" y="3246120"/>
            <a:ext cx="987552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78408" y="3081528"/>
            <a:ext cx="329184" cy="3291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On-premises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93008" y="3081528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IaaS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53328" y="3081528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PaaS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59368" y="3081528"/>
            <a:ext cx="329184" cy="3291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SaaS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Mais controle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mais trabalho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0" y="3977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Menos controle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mais abstração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4892040"/>
            <a:ext cx="5669280" cy="804672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Pergunta que guia a escolha: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“qual nível de abstração atende ao requisito sem criar trabalho desnecessário?”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o Docker entra?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Docker ajuda a empacotar a aplicação, mas não é nuvem por si só.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pic>
        <p:nvPicPr>
          <p:cNvPr id="7" name="Image 0" descr="/mnt/data/wide_clean_high_resolution_tech_infographic_sty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442602"/>
            <a:ext cx="3749040" cy="21099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828800"/>
            <a:ext cx="941832" cy="530352"/>
          </a:xfrm>
          <a:prstGeom prst="rect">
            <a:avLst/>
          </a:prstGeom>
          <a:solidFill>
            <a:srgbClr val="111E33"/>
          </a:solidFill>
          <a:ln>
            <a:solidFill>
              <a:srgbClr val="38BDF8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</a:rPr>
              <a:t>Código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1764792" y="1828800"/>
            <a:ext cx="941832" cy="530352"/>
          </a:xfrm>
          <a:prstGeom prst="rect">
            <a:avLst/>
          </a:prstGeom>
          <a:solidFill>
            <a:srgbClr val="111E33"/>
          </a:solidFill>
          <a:ln>
            <a:solidFill>
              <a:srgbClr val="38BDF8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</a:rPr>
              <a:t>Flask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2843784" y="1828800"/>
            <a:ext cx="941832" cy="530352"/>
          </a:xfrm>
          <a:prstGeom prst="rect">
            <a:avLst/>
          </a:prstGeom>
          <a:solidFill>
            <a:srgbClr val="111E33"/>
          </a:solidFill>
          <a:ln>
            <a:solidFill>
              <a:srgbClr val="38BDF8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</a:rPr>
              <a:t>Python</a:t>
            </a:r>
            <a:endParaRPr lang="en-US" sz="970" dirty="0"/>
          </a:p>
        </p:txBody>
      </p:sp>
      <p:sp>
        <p:nvSpPr>
          <p:cNvPr id="11" name="Text 8"/>
          <p:cNvSpPr/>
          <p:nvPr/>
        </p:nvSpPr>
        <p:spPr>
          <a:xfrm>
            <a:off x="3922776" y="1828800"/>
            <a:ext cx="941832" cy="530352"/>
          </a:xfrm>
          <a:prstGeom prst="rect">
            <a:avLst/>
          </a:prstGeom>
          <a:solidFill>
            <a:srgbClr val="111E33"/>
          </a:solidFill>
          <a:ln>
            <a:solidFill>
              <a:srgbClr val="38BDF8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</a:rPr>
              <a:t>Container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5001768" y="1828800"/>
            <a:ext cx="941832" cy="530352"/>
          </a:xfrm>
          <a:prstGeom prst="rect">
            <a:avLst/>
          </a:prstGeom>
          <a:solidFill>
            <a:srgbClr val="0B213A"/>
          </a:solidFill>
          <a:ln>
            <a:solidFill>
              <a:srgbClr val="38BDF8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</a:rPr>
              <a:t>SO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6080760" y="1828800"/>
            <a:ext cx="941832" cy="530352"/>
          </a:xfrm>
          <a:prstGeom prst="rect">
            <a:avLst/>
          </a:prstGeom>
          <a:solidFill>
            <a:srgbClr val="0B213A"/>
          </a:solidFill>
          <a:ln>
            <a:solidFill>
              <a:srgbClr val="38BDF8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</a:rPr>
              <a:t>Servidor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1143000" y="2596896"/>
            <a:ext cx="51206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22960" y="3017520"/>
            <a:ext cx="62179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reduz o “na minha máquina funciona”, porque leva dependências junto.
</a:t>
            </a:r>
            <a:pPr indent="0" marL="0">
              <a:buNone/>
            </a:pPr>
            <a:r>
              <a:rPr lang="en-US" sz="162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IaaS, alguém ainda cria VM, instala Docker, configura rede e mantém o serviço.
</a:t>
            </a:r>
            <a:pPr indent="0" marL="0">
              <a:buNone/>
            </a:pPr>
            <a:r>
              <a:rPr lang="en-US" sz="162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PaaS, a plataforma pode assumir parte desse trabalho operacional.
</a:t>
            </a:r>
            <a:endParaRPr lang="en-US" sz="1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teoria para a prática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atividade com Python + Docker torna as camadas visíveis.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/mnt/data/a_wide_high_tech_dark_blue_neon_cyan_infograp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283853"/>
            <a:ext cx="4800600" cy="2701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08760"/>
            <a:ext cx="544068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1.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Executar a API Python localmente.
</a:t>
            </a:r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2.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Construir uma imagem Docker.
</a:t>
            </a:r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3.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Subir um contêiner com portas e variáveis de ambiente.
</a:t>
            </a:r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4.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Relacionar a experiência com IaaS e PaaS.
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5257800" cy="86868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Não estamos fazendo “Docker por Docker”.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Estamos usando Docker para enxergar responsabilidades.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Responsabilidade compartilhada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Segurança da nuvem não é a mesma coisa que segurança na nuvem.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/mnt/data/a_wide_high_resolution_futuristic_digital_infog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404017"/>
            <a:ext cx="2971800" cy="16725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627632"/>
            <a:ext cx="3410712" cy="192024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Segurança DA nuvem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Data center, hardware, energia, virtualização e disponibilidade da plataforma.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1627632"/>
            <a:ext cx="73152" cy="1920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7448" y="1627632"/>
            <a:ext cx="3410712" cy="192024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Segurança NA nuvem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Usuários, permissões, dados, aplicações, senhas, tokens e configurações.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17720" y="1627632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600200"/>
            <a:ext cx="0" cy="3383280"/>
          </a:xfrm>
          <a:prstGeom prst="line">
            <a:avLst/>
          </a:prstGeom>
          <a:noFill/>
          <a:ln w="254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0" y="4709160"/>
            <a:ext cx="9052560" cy="749808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Senha no GitHub não vira responsabilidade do provedor só porque a aplicação está na nuvem.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de decisão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Cenários rápidos: IaaS, PaaS ou SaaS?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600200"/>
            <a:ext cx="4873752" cy="14173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Startup de IA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API Python simples; equipe pequena; sem administrador de sistemas.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73152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600200"/>
            <a:ext cx="4873752" cy="14173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Sistema legado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Linux específico, bibliotecas próprias e configuração especial.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73152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703320"/>
            <a:ext cx="4873752" cy="14173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CRM corporativo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empresa quer usar um sistema pronto, sem desenvolver software.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73152" cy="141732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3703320"/>
            <a:ext cx="4873752" cy="14173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Dashboard analítico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Equipe quer publicar uma aplicação web rapidamente.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703320"/>
            <a:ext cx="73152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566928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Para cada cenário: escolha o modelo, diga por quê e indique o maior risco.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Aplicando ao Radar ENEM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decisão ainda é uma hipótese — mas precisa ter critérios.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Comparar alternativas de hospedagem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1874520" cy="5029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VM / IaaS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1920240"/>
            <a:ext cx="2011680" cy="50292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maior controle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83480" y="1920240"/>
            <a:ext cx="2057400" cy="50292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maior operação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1874520" cy="5029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PaaS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788920"/>
            <a:ext cx="2011680" cy="50292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foco na aplicação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83480" y="2788920"/>
            <a:ext cx="2057400" cy="50292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menos controle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657600"/>
            <a:ext cx="1874520" cy="50292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Serverless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657600"/>
            <a:ext cx="2011680" cy="50292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investigar depois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83480" y="3657600"/>
            <a:ext cx="2057400" cy="50292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bom para eventos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06640" y="1828800"/>
            <a:ext cx="3931920" cy="2331720"/>
          </a:xfrm>
          <a:prstGeom prst="rect">
            <a:avLst/>
          </a:prstGeom>
          <a:solidFill>
            <a:srgbClr val="10243E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Frase de saída da aula: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“Nossa hipótese inicial é ___, porque ___. Para confirmar, ainda precisamos descobrir ___.”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2668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
</a:t>
            </a:r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Restrição
</a:t>
            </a:r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Justificativa
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 da atividade prática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896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Pequena, objetiva e reutilizável no projeto.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8408" y="1554480"/>
            <a:ext cx="2999232" cy="150876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Arquivos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app.py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requirements.txt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Dockerfile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73152" cy="1508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554480"/>
            <a:ext cx="2999232" cy="150876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Evidências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Imagem construída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Contêiner executando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Endpoint testado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73152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1554480"/>
            <a:ext cx="2999232" cy="150876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Reflexão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Em 5 linhas: o que a equipe administraria em IaaS? O que um PaaS poderia assumir?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554480"/>
            <a:ext cx="73152" cy="150876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4617720"/>
            <a:ext cx="8458200" cy="685800"/>
          </a:xfrm>
          <a:prstGeom prst="rect">
            <a:avLst/>
          </a:prstGeom>
          <a:solidFill>
            <a:srgbClr val="0E2038"/>
          </a:solidFill>
          <a:ln>
            <a:solidFill>
              <a:srgbClr val="1E293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Essa entrega pode virar a base do Incremento 2: implantação inicial do Radar ENEM.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igh_tech_scene_of_a_server_data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52450"/>
            <a:ext cx="3520440" cy="1981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Síntese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85800" y="12344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Uma boa arquitetura escolhe o nível de abstração adequado ao problema.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32688" y="3291840"/>
            <a:ext cx="2542032" cy="128016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IaaS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Mais controle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mais responsabilidade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291840"/>
            <a:ext cx="73152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95928" y="3291840"/>
            <a:ext cx="2542032" cy="128016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PaaS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Foco na aplicação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menos infraestrutura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86200" y="329184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59168" y="3291840"/>
            <a:ext cx="2542032" cy="1280160"/>
          </a:xfrm>
          <a:prstGeom prst="rect">
            <a:avLst/>
          </a:prstGeom>
          <a:solidFill>
            <a:srgbClr val="111E33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SaaS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Software pronto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menor controle técnico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49440" y="3291840"/>
            <a:ext cx="73152" cy="1280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742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Próxima aula: custos, CAPEX/OPEX e estimativa da arquitetura do Radar ENEM.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Computação em Nuvem • Aula 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UniSENAI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3 - Modelos de Serviço e Conteinerização</dc:title>
  <dc:subject>Computação em Nuvem - Aula 3</dc:subject>
  <dc:creator>Felipe Sovernigo</dc:creator>
  <cp:lastModifiedBy>Felipe Sovernigo</cp:lastModifiedBy>
  <cp:revision>1</cp:revision>
  <dcterms:created xsi:type="dcterms:W3CDTF">2026-08-14T01:58:01Z</dcterms:created>
  <dcterms:modified xsi:type="dcterms:W3CDTF">2026-08-14T01:58:01Z</dcterms:modified>
</cp:coreProperties>
</file>