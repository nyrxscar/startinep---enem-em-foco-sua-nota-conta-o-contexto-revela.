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C025C3-9857-4446-86ED-EC4DBAD030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C654F9-0FD2-4910-8B14-E9DF96E036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3EA655-7141-4EE2-B347-A9A9484CAA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75B017-B373-48F9-95DA-89681DE8E6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96BF88-3987-44CE-B504-831F05A89D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C35D0D-E129-4398-8F80-2A344EF8D4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094608-9003-4C62-8CCB-28D0E97316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5705D3-7226-47CB-AAD8-6433CD9938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FF7EBE-9C7D-4186-94DB-8703C961C6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80AA7B-3AF0-4DBB-B408-73DBECF994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E8040-E23B-4967-B903-E5A3EBE539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ABFFDE-E3B9-46A4-8201-89E77384BD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81DA4D-C021-4CB6-A2F5-42131FF0AE0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Clique para editar o formato do texto do título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2.º nível da estrutura de tópicos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4.º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5.º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6.º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7.º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1132920" y="1051560"/>
            <a:ext cx="9986400" cy="12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8fafc"/>
                </a:solidFill>
                <a:latin typeface="Aptos Display"/>
              </a:rPr>
              <a:t>Planejamento de Arquitetura em Nuvem</a:t>
            </a:r>
            <a:endParaRPr b="0" lang="pt-BR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22d3ee"/>
                </a:solidFill>
                <a:latin typeface="Aptos"/>
              </a:rPr>
              <a:t>Dimensionamento, CAPEX, OPEX e custos</a:t>
            </a:r>
            <a:endParaRPr b="0" lang="pt-BR" sz="2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Computação em Nuvem • Aula 4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2" name="Rounded Rectangle 2"/>
          <p:cNvSpPr/>
          <p:nvPr/>
        </p:nvSpPr>
        <p:spPr>
          <a:xfrm>
            <a:off x="731520" y="3794760"/>
            <a:ext cx="3382920" cy="17852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ectangle 3"/>
          <p:cNvSpPr/>
          <p:nvPr/>
        </p:nvSpPr>
        <p:spPr>
          <a:xfrm>
            <a:off x="731520" y="3794760"/>
            <a:ext cx="72720" cy="132552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TextBox 4"/>
          <p:cNvSpPr/>
          <p:nvPr/>
        </p:nvSpPr>
        <p:spPr>
          <a:xfrm>
            <a:off x="1289880" y="3959280"/>
            <a:ext cx="235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Pergunta central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960120" y="4453200"/>
            <a:ext cx="3017160" cy="10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94a3b8"/>
                </a:solidFill>
                <a:latin typeface="Aptos"/>
              </a:rPr>
              <a:t>Quanto custa colocar o Radar ENEM em produção — e por que esse custo depende da arquitetura?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4407480" y="3794760"/>
            <a:ext cx="3382920" cy="17852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Rectangle 7"/>
          <p:cNvSpPr/>
          <p:nvPr/>
        </p:nvSpPr>
        <p:spPr>
          <a:xfrm>
            <a:off x="4407480" y="3794760"/>
            <a:ext cx="72720" cy="13255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TextBox 8"/>
          <p:cNvSpPr/>
          <p:nvPr/>
        </p:nvSpPr>
        <p:spPr>
          <a:xfrm>
            <a:off x="5598360" y="3959280"/>
            <a:ext cx="109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Prática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4636080" y="4453200"/>
            <a:ext cx="301716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94a3b8"/>
                </a:solidFill>
                <a:latin typeface="Aptos"/>
              </a:rPr>
              <a:t>Medir consumo do container e estimar uma arquitetura de nuvem.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0" name="Rounded Rectangle 10"/>
          <p:cNvSpPr/>
          <p:nvPr/>
        </p:nvSpPr>
        <p:spPr>
          <a:xfrm>
            <a:off x="8083440" y="3794760"/>
            <a:ext cx="3382920" cy="17852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Rectangle 11"/>
          <p:cNvSpPr/>
          <p:nvPr/>
        </p:nvSpPr>
        <p:spPr>
          <a:xfrm>
            <a:off x="8083440" y="3794760"/>
            <a:ext cx="72720" cy="132552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12"/>
          <p:cNvSpPr/>
          <p:nvPr/>
        </p:nvSpPr>
        <p:spPr>
          <a:xfrm>
            <a:off x="9223200" y="3959280"/>
            <a:ext cx="1194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Entrega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3" name="TextBox 13"/>
          <p:cNvSpPr/>
          <p:nvPr/>
        </p:nvSpPr>
        <p:spPr>
          <a:xfrm>
            <a:off x="8312040" y="4453200"/>
            <a:ext cx="301716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94a3b8"/>
                </a:solidFill>
                <a:latin typeface="Aptos"/>
              </a:rPr>
              <a:t>Primeira proposta de arquitetura + estimativa mensal de custo.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4" name="TextBox 14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01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1"/>
          <p:cNvSpPr/>
          <p:nvPr/>
        </p:nvSpPr>
        <p:spPr>
          <a:xfrm>
            <a:off x="4019400" y="411480"/>
            <a:ext cx="4213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Retomando a Aula 3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731520" y="1417320"/>
            <a:ext cx="10789560" cy="28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Transformamos a aplicação Python em uma imagem Docker.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Executamos um container e trabalhamos com portas e variáveis de ambiente.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Vimos que Docker resolve parte do problema de empacotamento — não toda a infraestrutura.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Agora precisamos responder: onde esse container vai executar e quanto isso custa?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02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1"/>
          <p:cNvSpPr/>
          <p:nvPr/>
        </p:nvSpPr>
        <p:spPr>
          <a:xfrm>
            <a:off x="2053440" y="411480"/>
            <a:ext cx="81453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Desafio: o container não está na nuvem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59" name="Rounded Rectangle 2"/>
          <p:cNvSpPr/>
          <p:nvPr/>
        </p:nvSpPr>
        <p:spPr>
          <a:xfrm>
            <a:off x="731520" y="1463040"/>
            <a:ext cx="3382920" cy="3382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Rectangle 3"/>
          <p:cNvSpPr/>
          <p:nvPr/>
        </p:nvSpPr>
        <p:spPr>
          <a:xfrm>
            <a:off x="731520" y="1463040"/>
            <a:ext cx="72720" cy="338292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TextBox 4"/>
          <p:cNvSpPr/>
          <p:nvPr/>
        </p:nvSpPr>
        <p:spPr>
          <a:xfrm>
            <a:off x="2086920" y="1627560"/>
            <a:ext cx="763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Hoje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2" name="TextBox 5"/>
          <p:cNvSpPr/>
          <p:nvPr/>
        </p:nvSpPr>
        <p:spPr>
          <a:xfrm>
            <a:off x="960120" y="2121480"/>
            <a:ext cx="301716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94a3b8"/>
                </a:solidFill>
                <a:latin typeface="Aptos"/>
              </a:rPr>
              <a:t>Notebook</a:t>
            </a:r>
            <a:br>
              <a:rPr sz="2000"/>
            </a:br>
            <a:r>
              <a:rPr b="0" lang="en-US" sz="2000" spc="-1" strike="noStrike">
                <a:solidFill>
                  <a:srgbClr val="94a3b8"/>
                </a:solidFill>
                <a:latin typeface="Aptos"/>
              </a:rPr>
              <a:t>↓</a:t>
            </a:r>
            <a:br>
              <a:rPr sz="2000"/>
            </a:br>
            <a:r>
              <a:rPr b="0" lang="en-US" sz="2000" spc="-1" strike="noStrike">
                <a:solidFill>
                  <a:srgbClr val="94a3b8"/>
                </a:solidFill>
                <a:latin typeface="Aptos"/>
              </a:rPr>
              <a:t>Docker</a:t>
            </a:r>
            <a:br>
              <a:rPr sz="2000"/>
            </a:br>
            <a:r>
              <a:rPr b="0" lang="en-US" sz="2000" spc="-1" strike="noStrike">
                <a:solidFill>
                  <a:srgbClr val="94a3b8"/>
                </a:solidFill>
                <a:latin typeface="Aptos"/>
              </a:rPr>
              <a:t>↓</a:t>
            </a:r>
            <a:br>
              <a:rPr sz="2000"/>
            </a:br>
            <a:r>
              <a:rPr b="0" lang="en-US" sz="2000" spc="-1" strike="noStrike">
                <a:solidFill>
                  <a:srgbClr val="94a3b8"/>
                </a:solidFill>
                <a:latin typeface="Aptos"/>
              </a:rPr>
              <a:t>Container</a:t>
            </a:r>
            <a:br>
              <a:rPr sz="2000"/>
            </a:br>
            <a:r>
              <a:rPr b="0" lang="en-US" sz="2000" spc="-1" strike="noStrike">
                <a:solidFill>
                  <a:srgbClr val="94a3b8"/>
                </a:solidFill>
                <a:latin typeface="Aptos"/>
              </a:rPr>
              <a:t>↓</a:t>
            </a:r>
            <a:br>
              <a:rPr sz="2000"/>
            </a:br>
            <a:r>
              <a:rPr b="0" lang="en-US" sz="2000" spc="-1" strike="noStrike">
                <a:solidFill>
                  <a:srgbClr val="94a3b8"/>
                </a:solidFill>
                <a:latin typeface="Aptos"/>
              </a:rPr>
              <a:t>Flask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63" name="Rounded Rectangle 6"/>
          <p:cNvSpPr/>
          <p:nvPr/>
        </p:nvSpPr>
        <p:spPr>
          <a:xfrm>
            <a:off x="4434840" y="1463040"/>
            <a:ext cx="6994800" cy="3382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Rectangle 7"/>
          <p:cNvSpPr/>
          <p:nvPr/>
        </p:nvSpPr>
        <p:spPr>
          <a:xfrm>
            <a:off x="4434840" y="1463040"/>
            <a:ext cx="72720" cy="33829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TextBox 8"/>
          <p:cNvSpPr/>
          <p:nvPr/>
        </p:nvSpPr>
        <p:spPr>
          <a:xfrm>
            <a:off x="4801320" y="1627560"/>
            <a:ext cx="635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Para colocar em produção, precisamos decidir…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6" name="TextBox 9"/>
          <p:cNvSpPr/>
          <p:nvPr/>
        </p:nvSpPr>
        <p:spPr>
          <a:xfrm>
            <a:off x="4663440" y="2121480"/>
            <a:ext cx="6629040" cy="18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900" spc="-1" strike="noStrike">
                <a:solidFill>
                  <a:srgbClr val="94a3b8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94a3b8"/>
                </a:solidFill>
                <a:latin typeface="Aptos"/>
              </a:rPr>
              <a:t>Quanto CPU e memória?</a:t>
            </a:r>
            <a:br>
              <a:rPr sz="1900"/>
            </a:br>
            <a:r>
              <a:rPr b="0" lang="en-US" sz="1900" spc="-1" strike="noStrike">
                <a:solidFill>
                  <a:srgbClr val="94a3b8"/>
                </a:solidFill>
                <a:latin typeface="Aptos"/>
              </a:rPr>
              <a:t>• Onde armazenar dados?</a:t>
            </a:r>
            <a:br>
              <a:rPr sz="1900"/>
            </a:br>
            <a:r>
              <a:rPr b="0" lang="en-US" sz="1900" spc="-1" strike="noStrike">
                <a:solidFill>
                  <a:srgbClr val="94a3b8"/>
                </a:solidFill>
                <a:latin typeface="Aptos"/>
              </a:rPr>
              <a:t>• Precisa de banco?</a:t>
            </a:r>
            <a:br>
              <a:rPr sz="1900"/>
            </a:br>
            <a:r>
              <a:rPr b="0" lang="en-US" sz="1900" spc="-1" strike="noStrike">
                <a:solidFill>
                  <a:srgbClr val="94a3b8"/>
                </a:solidFill>
                <a:latin typeface="Aptos"/>
              </a:rPr>
              <a:t>• Fica ligado 24h?</a:t>
            </a:r>
            <a:br>
              <a:rPr sz="1900"/>
            </a:br>
            <a:r>
              <a:rPr b="0" lang="en-US" sz="1900" spc="-1" strike="noStrike">
                <a:solidFill>
                  <a:srgbClr val="94a3b8"/>
                </a:solidFill>
                <a:latin typeface="Aptos"/>
              </a:rPr>
              <a:t>• Qual nível de disponibilidade?</a:t>
            </a:r>
            <a:br>
              <a:rPr sz="1900"/>
            </a:br>
            <a:r>
              <a:rPr b="0" lang="en-US" sz="1900" spc="-1" strike="noStrike">
                <a:solidFill>
                  <a:srgbClr val="94a3b8"/>
                </a:solidFill>
                <a:latin typeface="Aptos"/>
              </a:rPr>
              <a:t>• Quanto custa por mês?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03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568040" y="411480"/>
            <a:ext cx="3116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CAPEX × OPEX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69" name="Rounded Rectangle 2"/>
          <p:cNvSpPr/>
          <p:nvPr/>
        </p:nvSpPr>
        <p:spPr>
          <a:xfrm>
            <a:off x="731520" y="1554480"/>
            <a:ext cx="5303160" cy="3474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Rectangle 3"/>
          <p:cNvSpPr/>
          <p:nvPr/>
        </p:nvSpPr>
        <p:spPr>
          <a:xfrm>
            <a:off x="731520" y="1554480"/>
            <a:ext cx="72720" cy="347436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4"/>
          <p:cNvSpPr/>
          <p:nvPr/>
        </p:nvSpPr>
        <p:spPr>
          <a:xfrm>
            <a:off x="1876680" y="1719000"/>
            <a:ext cx="310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CAPEX — investimento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960120" y="2212920"/>
            <a:ext cx="493740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Compra antecipada de servidores, storage, rede e outros ativos.</a:t>
            </a:r>
            <a:br>
              <a:rPr sz="1700"/>
            </a:b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Vantagem: controle e previsibilidade do ativo.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Risco: capacidade ociosa ou insuficiente.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3" name="Rounded Rectangle 6"/>
          <p:cNvSpPr/>
          <p:nvPr/>
        </p:nvSpPr>
        <p:spPr>
          <a:xfrm>
            <a:off x="6172200" y="1554480"/>
            <a:ext cx="5303160" cy="3474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ectangle 7"/>
          <p:cNvSpPr/>
          <p:nvPr/>
        </p:nvSpPr>
        <p:spPr>
          <a:xfrm>
            <a:off x="6172200" y="1554480"/>
            <a:ext cx="72720" cy="347436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8"/>
          <p:cNvSpPr/>
          <p:nvPr/>
        </p:nvSpPr>
        <p:spPr>
          <a:xfrm>
            <a:off x="7663320" y="1719000"/>
            <a:ext cx="241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OPEX — consumo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6400800" y="2212920"/>
            <a:ext cx="493740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Pagamento recorrente por serviços utilizados.</a:t>
            </a:r>
            <a:br>
              <a:rPr sz="1700"/>
            </a:b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Vantagem: menor investimento inicial e ajuste ao uso.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Risco: desperdício se a infraestrutura permanecer ociosa.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-1012680" y="5349240"/>
            <a:ext cx="14095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acc15"/>
                </a:solidFill>
                <a:latin typeface="Calibri"/>
              </a:rPr>
              <a:t>A nuvem não é automaticamente mais barata. Ela muda a forma de provisionar e pagar pela infraestrutura.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04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2790360" y="411480"/>
            <a:ext cx="66718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De onde vem o custo da nuvem?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80" name="Rounded Rectangle 2"/>
          <p:cNvSpPr/>
          <p:nvPr/>
        </p:nvSpPr>
        <p:spPr>
          <a:xfrm>
            <a:off x="685800" y="1554480"/>
            <a:ext cx="3428640" cy="1508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Rectangle 3"/>
          <p:cNvSpPr/>
          <p:nvPr/>
        </p:nvSpPr>
        <p:spPr>
          <a:xfrm>
            <a:off x="685800" y="1554480"/>
            <a:ext cx="72720" cy="150840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4"/>
          <p:cNvSpPr/>
          <p:nvPr/>
        </p:nvSpPr>
        <p:spPr>
          <a:xfrm>
            <a:off x="1555920" y="1719000"/>
            <a:ext cx="1779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Computação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914400" y="2212920"/>
            <a:ext cx="3062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4a3b8"/>
                </a:solidFill>
                <a:latin typeface="Aptos"/>
              </a:rPr>
              <a:t>CPU, memória, instâncias e tempo de execução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84" name="Rounded Rectangle 6"/>
          <p:cNvSpPr/>
          <p:nvPr/>
        </p:nvSpPr>
        <p:spPr>
          <a:xfrm>
            <a:off x="4389120" y="1554480"/>
            <a:ext cx="3428640" cy="1508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Rectangle 7"/>
          <p:cNvSpPr/>
          <p:nvPr/>
        </p:nvSpPr>
        <p:spPr>
          <a:xfrm>
            <a:off x="4389120" y="1554480"/>
            <a:ext cx="72720" cy="150840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8"/>
          <p:cNvSpPr/>
          <p:nvPr/>
        </p:nvSpPr>
        <p:spPr>
          <a:xfrm>
            <a:off x="5004000" y="1719000"/>
            <a:ext cx="229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Armazenamento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4617720" y="2212920"/>
            <a:ext cx="3062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4a3b8"/>
                </a:solidFill>
                <a:latin typeface="Aptos"/>
              </a:rPr>
              <a:t>GB armazenados, operações e retenção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88" name="Rounded Rectangle 10"/>
          <p:cNvSpPr/>
          <p:nvPr/>
        </p:nvSpPr>
        <p:spPr>
          <a:xfrm>
            <a:off x="8092440" y="1554480"/>
            <a:ext cx="3428640" cy="1508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Rectangle 11"/>
          <p:cNvSpPr/>
          <p:nvPr/>
        </p:nvSpPr>
        <p:spPr>
          <a:xfrm>
            <a:off x="8092440" y="1554480"/>
            <a:ext cx="72720" cy="15084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TextBox 12"/>
          <p:cNvSpPr/>
          <p:nvPr/>
        </p:nvSpPr>
        <p:spPr>
          <a:xfrm>
            <a:off x="9370080" y="1719000"/>
            <a:ext cx="96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Banco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8321040" y="2212920"/>
            <a:ext cx="3062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4a3b8"/>
                </a:solidFill>
                <a:latin typeface="Aptos"/>
              </a:rPr>
              <a:t>Capacidade, operações e disponibilidade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92" name="Rounded Rectangle 14"/>
          <p:cNvSpPr/>
          <p:nvPr/>
        </p:nvSpPr>
        <p:spPr>
          <a:xfrm>
            <a:off x="685800" y="3474720"/>
            <a:ext cx="3428640" cy="1508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Rectangle 15"/>
          <p:cNvSpPr/>
          <p:nvPr/>
        </p:nvSpPr>
        <p:spPr>
          <a:xfrm>
            <a:off x="685800" y="3474720"/>
            <a:ext cx="72720" cy="150840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16"/>
          <p:cNvSpPr/>
          <p:nvPr/>
        </p:nvSpPr>
        <p:spPr>
          <a:xfrm>
            <a:off x="2029680" y="3639240"/>
            <a:ext cx="831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Rede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5" name="TextBox 17"/>
          <p:cNvSpPr/>
          <p:nvPr/>
        </p:nvSpPr>
        <p:spPr>
          <a:xfrm>
            <a:off x="914400" y="4133160"/>
            <a:ext cx="3062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4a3b8"/>
                </a:solidFill>
                <a:latin typeface="Aptos"/>
              </a:rPr>
              <a:t>Transferência de dados e distribuição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96" name="Rounded Rectangle 18"/>
          <p:cNvSpPr/>
          <p:nvPr/>
        </p:nvSpPr>
        <p:spPr>
          <a:xfrm>
            <a:off x="4389120" y="3474720"/>
            <a:ext cx="3428640" cy="1508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Rectangle 19"/>
          <p:cNvSpPr/>
          <p:nvPr/>
        </p:nvSpPr>
        <p:spPr>
          <a:xfrm>
            <a:off x="4389120" y="3474720"/>
            <a:ext cx="72720" cy="15084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TextBox 20"/>
          <p:cNvSpPr/>
          <p:nvPr/>
        </p:nvSpPr>
        <p:spPr>
          <a:xfrm>
            <a:off x="5514480" y="3639240"/>
            <a:ext cx="126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Serviços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4617720" y="4133160"/>
            <a:ext cx="3062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4a3b8"/>
                </a:solidFill>
                <a:latin typeface="Aptos"/>
              </a:rPr>
              <a:t>Monitoramento, backup e outros recursos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00" name="TextBox 22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05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1132200" y="411480"/>
            <a:ext cx="99882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Um recurso ligado pode continuar gerando custo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731520" y="1417320"/>
            <a:ext cx="10789560" cy="22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VM ligada sem usuários.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Armazenamento criado para um teste e nunca removido.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Capacidade superdimensionada.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Transferência de dados não considerada.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Serviços adicionais esquecidos.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-1399680" y="4892040"/>
            <a:ext cx="14960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acc15"/>
                </a:solidFill>
                <a:latin typeface="Calibri"/>
              </a:rPr>
              <a:t>Regra prática: todo recurso criado precisa ter responsável, finalidade, prazo e forma de desligamento.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06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1663920" y="411480"/>
            <a:ext cx="8924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Antes de escolher: precisamos dimensionar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731520" y="1417320"/>
            <a:ext cx="10789560" cy="26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Qual é a carga esperada?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Quantos usuários ou requisições?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A aplicação é constante, sazonal ou esporádica?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Qual tempo de resposta é aceitável?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Quanto armazenamento será necessário?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A aplicação precisa estar disponível 24×7?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07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1838520" y="411480"/>
            <a:ext cx="85752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Vamos observar o consumo do Mini Radar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731520" y="1417320"/>
            <a:ext cx="10789560" cy="17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Execute o container da Aula 3.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Observe CPU, memória, rede e I/O com docker stats.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Gere algumas requisições para a API.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Observe como o consumo reage à carga.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110" name="Rounded Rectangle 3"/>
          <p:cNvSpPr/>
          <p:nvPr/>
        </p:nvSpPr>
        <p:spPr>
          <a:xfrm>
            <a:off x="914400" y="4617720"/>
            <a:ext cx="10149480" cy="868320"/>
          </a:xfrm>
          <a:prstGeom prst="roundRect">
            <a:avLst>
              <a:gd name="adj" fmla="val 16667"/>
            </a:avLst>
          </a:prstGeom>
          <a:solidFill>
            <a:srgbClr val="020617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TextBox 4"/>
          <p:cNvSpPr/>
          <p:nvPr/>
        </p:nvSpPr>
        <p:spPr>
          <a:xfrm>
            <a:off x="3865320" y="4818960"/>
            <a:ext cx="424728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300" spc="-1" strike="noStrike">
                <a:solidFill>
                  <a:srgbClr val="22d3ee"/>
                </a:solidFill>
                <a:latin typeface="Consolas"/>
              </a:rPr>
              <a:t>docker stats radar-enem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08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1562760" y="411480"/>
            <a:ext cx="91270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O que o docker stats nos ajuda a responder?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14" name="Rounded Rectangle 2"/>
          <p:cNvSpPr/>
          <p:nvPr/>
        </p:nvSpPr>
        <p:spPr>
          <a:xfrm>
            <a:off x="731520" y="1508760"/>
            <a:ext cx="5074560" cy="1782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Rectangle 3"/>
          <p:cNvSpPr/>
          <p:nvPr/>
        </p:nvSpPr>
        <p:spPr>
          <a:xfrm>
            <a:off x="731520" y="1508760"/>
            <a:ext cx="72720" cy="178272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TextBox 4"/>
          <p:cNvSpPr/>
          <p:nvPr/>
        </p:nvSpPr>
        <p:spPr>
          <a:xfrm>
            <a:off x="2963160" y="1673280"/>
            <a:ext cx="70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CPU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960120" y="2167200"/>
            <a:ext cx="47088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Quanto processamento a aplicação consome?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8" name="Rounded Rectangle 6"/>
          <p:cNvSpPr/>
          <p:nvPr/>
        </p:nvSpPr>
        <p:spPr>
          <a:xfrm>
            <a:off x="6217920" y="1508760"/>
            <a:ext cx="5074560" cy="1782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Rectangle 7"/>
          <p:cNvSpPr/>
          <p:nvPr/>
        </p:nvSpPr>
        <p:spPr>
          <a:xfrm>
            <a:off x="6217920" y="1508760"/>
            <a:ext cx="72720" cy="17827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TextBox 8"/>
          <p:cNvSpPr/>
          <p:nvPr/>
        </p:nvSpPr>
        <p:spPr>
          <a:xfrm>
            <a:off x="8149320" y="1673280"/>
            <a:ext cx="130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Memória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6446520" y="2167200"/>
            <a:ext cx="4708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Qual o uso de RAM?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22" name="Rounded Rectangle 10"/>
          <p:cNvSpPr/>
          <p:nvPr/>
        </p:nvSpPr>
        <p:spPr>
          <a:xfrm>
            <a:off x="731520" y="3703320"/>
            <a:ext cx="5074560" cy="1782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Rectangle 11"/>
          <p:cNvSpPr/>
          <p:nvPr/>
        </p:nvSpPr>
        <p:spPr>
          <a:xfrm>
            <a:off x="731520" y="3703320"/>
            <a:ext cx="72720" cy="178272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12"/>
          <p:cNvSpPr/>
          <p:nvPr/>
        </p:nvSpPr>
        <p:spPr>
          <a:xfrm>
            <a:off x="2898360" y="3867840"/>
            <a:ext cx="831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Rede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5" name="TextBox 13"/>
          <p:cNvSpPr/>
          <p:nvPr/>
        </p:nvSpPr>
        <p:spPr>
          <a:xfrm>
            <a:off x="960120" y="4361760"/>
            <a:ext cx="4708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Quanto entra e sai?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26" name="Rounded Rectangle 14"/>
          <p:cNvSpPr/>
          <p:nvPr/>
        </p:nvSpPr>
        <p:spPr>
          <a:xfrm>
            <a:off x="6217920" y="3703320"/>
            <a:ext cx="5074560" cy="1782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Rectangle 15"/>
          <p:cNvSpPr/>
          <p:nvPr/>
        </p:nvSpPr>
        <p:spPr>
          <a:xfrm>
            <a:off x="6217920" y="3703320"/>
            <a:ext cx="72720" cy="178272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16"/>
          <p:cNvSpPr/>
          <p:nvPr/>
        </p:nvSpPr>
        <p:spPr>
          <a:xfrm>
            <a:off x="8528040" y="3867840"/>
            <a:ext cx="54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I/O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9" name="TextBox 17"/>
          <p:cNvSpPr/>
          <p:nvPr/>
        </p:nvSpPr>
        <p:spPr>
          <a:xfrm>
            <a:off x="6446520" y="4361760"/>
            <a:ext cx="4708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Há pressão de leitura/escrita?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30" name="TextBox 18"/>
          <p:cNvSpPr/>
          <p:nvPr/>
        </p:nvSpPr>
        <p:spPr>
          <a:xfrm>
            <a:off x="745920" y="5532120"/>
            <a:ext cx="106693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Observação de consumo ≠ benchmark completo. É um ponto de partida para dimensionamento.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31" name="TextBox 19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09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2879640" y="411480"/>
            <a:ext cx="64933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Exercício: Cloud Cost Challenge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33" name="Rounded Rectangle 2"/>
          <p:cNvSpPr/>
          <p:nvPr/>
        </p:nvSpPr>
        <p:spPr>
          <a:xfrm>
            <a:off x="731520" y="1508760"/>
            <a:ext cx="3428640" cy="3291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Rectangle 3"/>
          <p:cNvSpPr/>
          <p:nvPr/>
        </p:nvSpPr>
        <p:spPr>
          <a:xfrm>
            <a:off x="731520" y="1508760"/>
            <a:ext cx="72720" cy="32914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4"/>
          <p:cNvSpPr/>
          <p:nvPr/>
        </p:nvSpPr>
        <p:spPr>
          <a:xfrm>
            <a:off x="1907280" y="1673280"/>
            <a:ext cx="116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Cenário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960120" y="2167200"/>
            <a:ext cx="3062880" cy="25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O Mini Radar ENEM será publicado na Internet.</a:t>
            </a:r>
            <a:br>
              <a:rPr sz="1600"/>
            </a:b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• Carga moderada</a:t>
            </a: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• Aplicação disponível durante o mês</a:t>
            </a: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• Dados crescerão ao longo do projeto</a:t>
            </a: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• Orçamento fictício: R$ 300/mês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37" name="Rounded Rectangle 6"/>
          <p:cNvSpPr/>
          <p:nvPr/>
        </p:nvSpPr>
        <p:spPr>
          <a:xfrm>
            <a:off x="4389120" y="1508760"/>
            <a:ext cx="3428640" cy="3291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ectangle 7"/>
          <p:cNvSpPr/>
          <p:nvPr/>
        </p:nvSpPr>
        <p:spPr>
          <a:xfrm>
            <a:off x="4389120" y="1508760"/>
            <a:ext cx="72720" cy="329148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8"/>
          <p:cNvSpPr/>
          <p:nvPr/>
        </p:nvSpPr>
        <p:spPr>
          <a:xfrm>
            <a:off x="5528160" y="1673280"/>
            <a:ext cx="124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Opção 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4617720" y="2167200"/>
            <a:ext cx="3062880" cy="17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VM pequena</a:t>
            </a: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2 vCPU • 4 GB</a:t>
            </a: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R$ 0,20/h</a:t>
            </a:r>
            <a:br>
              <a:rPr sz="1600"/>
            </a:b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Alta disponibilidade operacional exigiria arquitetura adicional.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1" name="Rounded Rectangle 10"/>
          <p:cNvSpPr/>
          <p:nvPr/>
        </p:nvSpPr>
        <p:spPr>
          <a:xfrm>
            <a:off x="8046720" y="1508760"/>
            <a:ext cx="3428640" cy="3291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Rectangle 11"/>
          <p:cNvSpPr/>
          <p:nvPr/>
        </p:nvSpPr>
        <p:spPr>
          <a:xfrm>
            <a:off x="8046720" y="1508760"/>
            <a:ext cx="72720" cy="329148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TextBox 12"/>
          <p:cNvSpPr/>
          <p:nvPr/>
        </p:nvSpPr>
        <p:spPr>
          <a:xfrm>
            <a:off x="8982360" y="1673280"/>
            <a:ext cx="1648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Opção B / C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44" name="TextBox 13"/>
          <p:cNvSpPr/>
          <p:nvPr/>
        </p:nvSpPr>
        <p:spPr>
          <a:xfrm>
            <a:off x="8275320" y="2167200"/>
            <a:ext cx="3062880" cy="154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VM maior</a:t>
            </a: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4 vCPU • 8 GB</a:t>
            </a: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R$ 0,40/h</a:t>
            </a:r>
            <a:br>
              <a:rPr sz="1600"/>
            </a:b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PaaS hipotético</a:t>
            </a:r>
            <a:br>
              <a:rPr sz="1600"/>
            </a:br>
            <a:r>
              <a:rPr b="0" lang="en-US" sz="1600" spc="-1" strike="noStrike">
                <a:solidFill>
                  <a:srgbClr val="94a3b8"/>
                </a:solidFill>
                <a:latin typeface="Aptos"/>
              </a:rPr>
              <a:t>R$ 80/mês + uso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5" name="TextBox 14"/>
          <p:cNvSpPr/>
          <p:nvPr/>
        </p:nvSpPr>
        <p:spPr>
          <a:xfrm>
            <a:off x="992880" y="5166360"/>
            <a:ext cx="10083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94a3b8"/>
                </a:solidFill>
                <a:latin typeface="Calibri"/>
              </a:rPr>
              <a:t>Valores são didáticos. O objetivo é comparar arquiteturas, não reproduzir preços de um provedor.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6" name="TextBox 15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10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3112560" y="411480"/>
            <a:ext cx="60271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Calculadora simples de custo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48" name="Rounded Rectangle 2"/>
          <p:cNvSpPr/>
          <p:nvPr/>
        </p:nvSpPr>
        <p:spPr>
          <a:xfrm>
            <a:off x="822960" y="1417320"/>
            <a:ext cx="6491880" cy="4480200"/>
          </a:xfrm>
          <a:prstGeom prst="roundRect">
            <a:avLst>
              <a:gd name="adj" fmla="val 16667"/>
            </a:avLst>
          </a:prstGeom>
          <a:solidFill>
            <a:srgbClr val="020617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TextBox 3"/>
          <p:cNvSpPr/>
          <p:nvPr/>
        </p:nvSpPr>
        <p:spPr>
          <a:xfrm>
            <a:off x="1296000" y="1737360"/>
            <a:ext cx="5545440" cy="17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8fafc"/>
                </a:solidFill>
                <a:latin typeface="Consolas"/>
              </a:rPr>
              <a:t>preco_hora = float(input("Preço/hora: R$ "))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8fafc"/>
                </a:solidFill>
                <a:latin typeface="Consolas"/>
              </a:rPr>
              <a:t>horas_dia = float(input("Horas/dia: "))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8fafc"/>
                </a:solidFill>
                <a:latin typeface="Consolas"/>
              </a:rPr>
              <a:t>dias_mes = int(input("Dias/mês: "))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8fafc"/>
                </a:solidFill>
                <a:latin typeface="Consolas"/>
              </a:rPr>
              <a:t>custo = preco_hora * horas_dia * dias_mes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8fafc"/>
                </a:solidFill>
                <a:latin typeface="Consolas"/>
              </a:rPr>
              <a:t>print(f"Custo mensal: R$ {custo:.2f}")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50" name="Rounded Rectangle 4"/>
          <p:cNvSpPr/>
          <p:nvPr/>
        </p:nvSpPr>
        <p:spPr>
          <a:xfrm>
            <a:off x="7635240" y="1417320"/>
            <a:ext cx="3657240" cy="44802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Rectangle 5"/>
          <p:cNvSpPr/>
          <p:nvPr/>
        </p:nvSpPr>
        <p:spPr>
          <a:xfrm>
            <a:off x="7635240" y="1417320"/>
            <a:ext cx="72720" cy="448020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TextBox 6"/>
          <p:cNvSpPr/>
          <p:nvPr/>
        </p:nvSpPr>
        <p:spPr>
          <a:xfrm>
            <a:off x="8938080" y="1581840"/>
            <a:ext cx="1142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Desafio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7863840" y="2075760"/>
            <a:ext cx="329148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Altere:</a:t>
            </a:r>
            <a:br>
              <a:rPr sz="1700"/>
            </a:b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preço/hora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horas/dia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dias/mês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armazenamento</a:t>
            </a:r>
            <a:br>
              <a:rPr sz="1700"/>
            </a:b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Depois compare duas arquiteturas.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11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/>
          <p:nvPr/>
        </p:nvSpPr>
        <p:spPr>
          <a:xfrm>
            <a:off x="1890360" y="411480"/>
            <a:ext cx="8471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Não existe “o mais barato” sem contexto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56" name="Rounded Rectangle 2"/>
          <p:cNvSpPr/>
          <p:nvPr/>
        </p:nvSpPr>
        <p:spPr>
          <a:xfrm>
            <a:off x="731520" y="1508760"/>
            <a:ext cx="3428640" cy="3474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Rectangle 3"/>
          <p:cNvSpPr/>
          <p:nvPr/>
        </p:nvSpPr>
        <p:spPr>
          <a:xfrm>
            <a:off x="731520" y="1508760"/>
            <a:ext cx="72720" cy="347436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TextBox 4"/>
          <p:cNvSpPr/>
          <p:nvPr/>
        </p:nvSpPr>
        <p:spPr>
          <a:xfrm>
            <a:off x="1469160" y="1673280"/>
            <a:ext cx="2044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Barato demais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960120" y="2167200"/>
            <a:ext cx="30628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94a3b8"/>
                </a:solidFill>
                <a:latin typeface="Aptos"/>
              </a:rPr>
              <a:t>Pode faltar CPU, memória ou disponibilidade.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0" name="Rounded Rectangle 6"/>
          <p:cNvSpPr/>
          <p:nvPr/>
        </p:nvSpPr>
        <p:spPr>
          <a:xfrm>
            <a:off x="4389120" y="1508760"/>
            <a:ext cx="3428640" cy="3474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Rectangle 7"/>
          <p:cNvSpPr/>
          <p:nvPr/>
        </p:nvSpPr>
        <p:spPr>
          <a:xfrm>
            <a:off x="4389120" y="1508760"/>
            <a:ext cx="72720" cy="347436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TextBox 8"/>
          <p:cNvSpPr/>
          <p:nvPr/>
        </p:nvSpPr>
        <p:spPr>
          <a:xfrm>
            <a:off x="5089320" y="1673280"/>
            <a:ext cx="211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Grande demais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4617720" y="2167200"/>
            <a:ext cx="3062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94a3b8"/>
                </a:solidFill>
                <a:latin typeface="Aptos"/>
              </a:rPr>
              <a:t>Pode pagar por capacidade ociosa.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4" name="Rounded Rectangle 10"/>
          <p:cNvSpPr/>
          <p:nvPr/>
        </p:nvSpPr>
        <p:spPr>
          <a:xfrm>
            <a:off x="8046720" y="1508760"/>
            <a:ext cx="3428640" cy="3474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Rectangle 11"/>
          <p:cNvSpPr/>
          <p:nvPr/>
        </p:nvSpPr>
        <p:spPr>
          <a:xfrm>
            <a:off x="8046720" y="1508760"/>
            <a:ext cx="72720" cy="347436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12"/>
          <p:cNvSpPr/>
          <p:nvPr/>
        </p:nvSpPr>
        <p:spPr>
          <a:xfrm>
            <a:off x="8490960" y="1673280"/>
            <a:ext cx="2631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Bem dimensionado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7" name="TextBox 13"/>
          <p:cNvSpPr/>
          <p:nvPr/>
        </p:nvSpPr>
        <p:spPr>
          <a:xfrm>
            <a:off x="8275320" y="2167200"/>
            <a:ext cx="3062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94a3b8"/>
                </a:solidFill>
                <a:latin typeface="Aptos"/>
              </a:rPr>
              <a:t>Atende aos requisitos com custo justificável.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8" name="TextBox 14"/>
          <p:cNvSpPr/>
          <p:nvPr/>
        </p:nvSpPr>
        <p:spPr>
          <a:xfrm>
            <a:off x="1751040" y="5394960"/>
            <a:ext cx="8567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22d3ee"/>
                </a:solidFill>
                <a:latin typeface="Calibri"/>
              </a:rPr>
              <a:t>Boa arquitetura = requisitos + restrições + justificativa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169" name="TextBox 15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12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3463920" y="411480"/>
            <a:ext cx="53247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Aplicando ao Radar ENEM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731520" y="1417320"/>
            <a:ext cx="10789560" cy="29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Modelo de implantação: público, privado ou híbrido?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Modelo de serviço: IaaS, PaaS ou outra alternativa?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Quais recursos de computação são necessários?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Onde os dados serão armazenados?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Precisa de banco de dados?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Qual custo mensal aceitável?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Qual o principal risco da arquitetura?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13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"/>
          <p:cNvSpPr/>
          <p:nvPr/>
        </p:nvSpPr>
        <p:spPr>
          <a:xfrm>
            <a:off x="2348280" y="411480"/>
            <a:ext cx="75556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Incremento 1 — Arquitetura e custos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74" name="Rounded Rectangle 2"/>
          <p:cNvSpPr/>
          <p:nvPr/>
        </p:nvSpPr>
        <p:spPr>
          <a:xfrm>
            <a:off x="731520" y="1463040"/>
            <a:ext cx="5166000" cy="3840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Rectangle 3"/>
          <p:cNvSpPr/>
          <p:nvPr/>
        </p:nvSpPr>
        <p:spPr>
          <a:xfrm>
            <a:off x="731520" y="1463040"/>
            <a:ext cx="72720" cy="384012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TextBox 4"/>
          <p:cNvSpPr/>
          <p:nvPr/>
        </p:nvSpPr>
        <p:spPr>
          <a:xfrm>
            <a:off x="2694960" y="1627560"/>
            <a:ext cx="1330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Entregas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960120" y="2121480"/>
            <a:ext cx="480024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Requisitos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Modelo de implantação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Modelo de serviço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Diagrama arquitetural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Serviços propostos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Estimativa mensal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• Riscos e alternativas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78" name="Rounded Rectangle 6"/>
          <p:cNvSpPr/>
          <p:nvPr/>
        </p:nvSpPr>
        <p:spPr>
          <a:xfrm>
            <a:off x="6172200" y="1463040"/>
            <a:ext cx="5166000" cy="3840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Rectangle 7"/>
          <p:cNvSpPr/>
          <p:nvPr/>
        </p:nvSpPr>
        <p:spPr>
          <a:xfrm>
            <a:off x="6172200" y="1463040"/>
            <a:ext cx="72720" cy="384012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TextBox 8"/>
          <p:cNvSpPr/>
          <p:nvPr/>
        </p:nvSpPr>
        <p:spPr>
          <a:xfrm>
            <a:off x="8048160" y="1627560"/>
            <a:ext cx="1505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Perguntas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81" name="TextBox 9"/>
          <p:cNvSpPr/>
          <p:nvPr/>
        </p:nvSpPr>
        <p:spPr>
          <a:xfrm>
            <a:off x="6400800" y="2121480"/>
            <a:ext cx="48002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Por que este modelo?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Por que estes serviços?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Quanto custa manter?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O que fica público?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Como evitar desperdício?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Qual risco é mais crítico?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82" name="TextBox 10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14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1"/>
          <p:cNvSpPr/>
          <p:nvPr/>
        </p:nvSpPr>
        <p:spPr>
          <a:xfrm>
            <a:off x="2640960" y="411480"/>
            <a:ext cx="69706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Atividade em grupo — 40 minutos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84" name="TextBox 2"/>
          <p:cNvSpPr/>
          <p:nvPr/>
        </p:nvSpPr>
        <p:spPr>
          <a:xfrm>
            <a:off x="731520" y="1417320"/>
            <a:ext cx="10789560" cy="26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1. Observe o consumo do Mini Radar com docker stats.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2. Escolha uma arquitetura hipotética para o Radar ENEM.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3. Calcule o custo mensal.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4. Compare pelo menos duas alternativas.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5. Respeite o orçamento fictício de R$ 300/mês.</a:t>
            </a:r>
            <a:endParaRPr b="0" lang="pt-BR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6. Prepare uma defesa de até 2 minutos.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185" name="TextBox 3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15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/>
          <p:nvPr/>
        </p:nvSpPr>
        <p:spPr>
          <a:xfrm>
            <a:off x="4451400" y="411480"/>
            <a:ext cx="3349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Entrega da aula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87" name="Rounded Rectangle 2"/>
          <p:cNvSpPr/>
          <p:nvPr/>
        </p:nvSpPr>
        <p:spPr>
          <a:xfrm>
            <a:off x="731520" y="1508760"/>
            <a:ext cx="5211720" cy="3840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Rectangle 3"/>
          <p:cNvSpPr/>
          <p:nvPr/>
        </p:nvSpPr>
        <p:spPr>
          <a:xfrm>
            <a:off x="731520" y="1508760"/>
            <a:ext cx="72720" cy="384012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9" name="TextBox 4"/>
          <p:cNvSpPr/>
          <p:nvPr/>
        </p:nvSpPr>
        <p:spPr>
          <a:xfrm>
            <a:off x="2221920" y="1673280"/>
            <a:ext cx="232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Ficha de decisão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90" name="TextBox 5"/>
          <p:cNvSpPr/>
          <p:nvPr/>
        </p:nvSpPr>
        <p:spPr>
          <a:xfrm>
            <a:off x="960120" y="2167200"/>
            <a:ext cx="484596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Modelo de implantação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Modelo de serviço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Recursos de computação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Armazenamento / banco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Estimativa de custo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Principal risco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91" name="Rounded Rectangle 6"/>
          <p:cNvSpPr/>
          <p:nvPr/>
        </p:nvSpPr>
        <p:spPr>
          <a:xfrm>
            <a:off x="6217920" y="1508760"/>
            <a:ext cx="5028840" cy="3840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Rectangle 7"/>
          <p:cNvSpPr/>
          <p:nvPr/>
        </p:nvSpPr>
        <p:spPr>
          <a:xfrm>
            <a:off x="6217920" y="1508760"/>
            <a:ext cx="72720" cy="384012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8"/>
          <p:cNvSpPr/>
          <p:nvPr/>
        </p:nvSpPr>
        <p:spPr>
          <a:xfrm>
            <a:off x="8003880" y="1673280"/>
            <a:ext cx="154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Evidências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94" name="TextBox 9"/>
          <p:cNvSpPr/>
          <p:nvPr/>
        </p:nvSpPr>
        <p:spPr>
          <a:xfrm>
            <a:off x="6446520" y="2167200"/>
            <a:ext cx="4663080" cy="13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Captura do docker stats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Planilha/cálculo de custo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Diagrama simples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Justificativa da escolha</a:t>
            </a:r>
            <a:br>
              <a:rPr sz="1700"/>
            </a:br>
            <a:r>
              <a:rPr b="0" lang="en-US" sz="1700" spc="-1" strike="noStrike">
                <a:solidFill>
                  <a:srgbClr val="94a3b8"/>
                </a:solidFill>
                <a:latin typeface="Aptos"/>
              </a:rPr>
              <a:t>Registro das alternativas rejeitadas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95" name="TextBox 10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16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4811040" y="411480"/>
            <a:ext cx="2630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Fechamento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731520" y="1417320"/>
            <a:ext cx="10789560" cy="29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Nuvem não é sinônimo de economia.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Custo depende dos recursos e do padrão de uso.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Dimensionamento precisa partir de requisitos.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Uma arquitetura deve equilibrar custo, desempenho, disponibilidade e esforço operacional.</a:t>
            </a:r>
            <a:endParaRPr b="0" lang="pt-BR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O Incremento 1 do Radar ENEM começa com uma decisão técnica justificável.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-550800" y="5120640"/>
            <a:ext cx="1326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22d3ee"/>
                </a:solidFill>
                <a:latin typeface="Calibri"/>
              </a:rPr>
              <a:t>Próxima aula: serviços de computação — máquinas virtuais, imagens, instâncias e dimensionamento.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17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/>
          <p:nvPr/>
        </p:nvSpPr>
        <p:spPr>
          <a:xfrm>
            <a:off x="3666600" y="411480"/>
            <a:ext cx="49190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8fafc"/>
                </a:solidFill>
                <a:latin typeface="Aptos Display"/>
              </a:rPr>
              <a:t>Referências e materiais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731520" y="1417320"/>
            <a:ext cx="10789560" cy="17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7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8fafc"/>
                </a:solidFill>
                <a:latin typeface="Aptos"/>
              </a:rPr>
              <a:t>VERAS, Manoel. Cloud computing: nova arquitetura da TI. Brasport, 2012.</a:t>
            </a:r>
            <a:endParaRPr b="0" lang="pt-BR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7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8fafc"/>
                </a:solidFill>
                <a:latin typeface="Aptos"/>
              </a:rPr>
              <a:t>VELTE, Anthony T.; VELTE, Toby J.; ELSENPETER, Robert. Cloud computing: computação em nuvem: uma abordagem prática. Alta Books, 2012.</a:t>
            </a:r>
            <a:endParaRPr b="0" lang="pt-BR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7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8fafc"/>
                </a:solidFill>
                <a:latin typeface="Aptos"/>
              </a:rPr>
              <a:t>VICAT-BLANC, Pascale et al. Computing networks: from cluster to cloud computing. ISTE, 2011.</a:t>
            </a:r>
            <a:endParaRPr b="0" lang="pt-BR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7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8fafc"/>
                </a:solidFill>
                <a:latin typeface="Aptos"/>
              </a:rPr>
              <a:t>Materiais complementares e documentação técnica serão disponibilizados no AVA.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11075400" y="6473880"/>
            <a:ext cx="3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Aptos"/>
              </a:rPr>
              <a:t>18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2026-08-21T08:36:56Z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