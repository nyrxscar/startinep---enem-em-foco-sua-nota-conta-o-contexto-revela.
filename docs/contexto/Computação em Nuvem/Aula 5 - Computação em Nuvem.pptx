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Roboto Light"/>
      <p:regular r:id="rId17"/>
      <p:bold r:id="rId18"/>
      <p:italic r:id="rId19"/>
      <p:boldItalic r:id="rId20"/>
    </p:embeddedFont>
    <p:embeddedFont>
      <p:font typeface="Orbitron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Light-boldItalic.fntdata"/><Relationship Id="rId11" Type="http://schemas.openxmlformats.org/officeDocument/2006/relationships/slide" Target="slides/slide6.xml"/><Relationship Id="rId22" Type="http://schemas.openxmlformats.org/officeDocument/2006/relationships/font" Target="fonts/Orbitron-bold.fntdata"/><Relationship Id="rId10" Type="http://schemas.openxmlformats.org/officeDocument/2006/relationships/slide" Target="slides/slide5.xml"/><Relationship Id="rId21" Type="http://schemas.openxmlformats.org/officeDocument/2006/relationships/font" Target="fonts/Orbitron-regular.fntdata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RobotoLight-regular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Light-italic.fntdata"/><Relationship Id="rId6" Type="http://schemas.openxmlformats.org/officeDocument/2006/relationships/slide" Target="slides/slide1.xml"/><Relationship Id="rId18" Type="http://schemas.openxmlformats.org/officeDocument/2006/relationships/font" Target="fonts/RobotoLigh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Relationship Id="rId7" Type="http://schemas.openxmlformats.org/officeDocument/2006/relationships/image" Target="../media/image23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Relationship Id="rId7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25.png"/><Relationship Id="rId7" Type="http://schemas.openxmlformats.org/officeDocument/2006/relationships/image" Target="../media/image22.png"/><Relationship Id="rId8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449859"/>
            <a:ext cx="9001125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2D3EE"/>
                </a:solidFill>
                <a:latin typeface="Orbitron"/>
                <a:ea typeface="Orbitron"/>
                <a:cs typeface="Orbitron"/>
                <a:sym typeface="Orbitron"/>
              </a:rPr>
              <a:t>Aula 5: Computação em Nuvem • IaaS na Prática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981301"/>
            <a:ext cx="85725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CA3AF"/>
                </a:solidFill>
                <a:latin typeface="Roboto Light"/>
                <a:ea typeface="Roboto Light"/>
                <a:cs typeface="Roboto Light"/>
                <a:sym typeface="Roboto Light"/>
              </a:rPr>
              <a:t>Provisionamento, Instâncias e Deploy do Radar ENEM na Nuvem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90737"/>
            <a:ext cx="53721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866775" y="2628900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Na Aula 4, estimamos os custos (OPEX) e dimensionamos a infraestrutura.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66775" y="3476625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Hoje, vamos sair do planejamento e ir diretamente para a </a:t>
            </a:r>
            <a:r>
              <a:rPr b="1" i="0" lang="en-US" sz="1500" u="none" cap="none" strike="noStrike">
                <a:solidFill>
                  <a:srgbClr val="F3F4F6"/>
                </a:solidFill>
                <a:latin typeface="Roboto"/>
                <a:ea typeface="Roboto"/>
                <a:cs typeface="Roboto"/>
                <a:sym typeface="Roboto"/>
              </a:rPr>
              <a:t>execução</a:t>
            </a:r>
            <a:r>
              <a:rPr b="0" i="0" lang="en-US" sz="1500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66775" y="4324350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3F4F6"/>
                </a:solidFill>
                <a:latin typeface="Roboto"/>
                <a:ea typeface="Roboto"/>
                <a:cs typeface="Roboto"/>
                <a:sym typeface="Roboto"/>
              </a:rPr>
              <a:t>O Desafio: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 Criar uma máquina virtual na nuvem, instalar o Docker e colocar a aplicação no ar.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00262"/>
            <a:ext cx="535305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5775" y="2667000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5775" y="35147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5775" y="436245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485775" y="485775"/>
            <a:ext cx="117062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Orbitron"/>
                <a:ea typeface="Orbitron"/>
                <a:cs typeface="Orbitron"/>
                <a:sym typeface="Orbitron"/>
              </a:rPr>
              <a:t>Onde paramos? (Conexão com a Aula 4)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485775" y="1123950"/>
            <a:ext cx="11220450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2200275"/>
            <a:ext cx="5467350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200275"/>
            <a:ext cx="5467350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485775" y="5295900"/>
            <a:ext cx="11220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Lembrete de Governança:</a:t>
            </a:r>
            <a:r>
              <a:rPr b="0" i="0" lang="en-US" sz="1500" u="none" cap="none" strike="noStrike">
                <a:solidFill>
                  <a:srgbClr val="FCA5A5"/>
                </a:solidFill>
                <a:latin typeface="Roboto"/>
                <a:ea typeface="Roboto"/>
                <a:cs typeface="Roboto"/>
                <a:sym typeface="Roboto"/>
              </a:rPr>
              <a:t> Instância ligada = máquina faturando. Desligue se não for usar!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719137" y="3228975"/>
            <a:ext cx="50006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78BFA"/>
                </a:solidFill>
                <a:latin typeface="Orbitron"/>
                <a:ea typeface="Orbitron"/>
                <a:cs typeface="Orbitron"/>
                <a:sym typeface="Orbitron"/>
              </a:rPr>
              <a:t>Responsabilidade do Provedor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81050" y="3705225"/>
            <a:ext cx="487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Fornece o hardware físico, fornecimento de energia elétrica, refrigeração e a camada de virtualização (hipervisor).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167324" y="3228975"/>
            <a:ext cx="361045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78BFA"/>
                </a:solidFill>
                <a:latin typeface="Orbitron"/>
                <a:ea typeface="Orbitron"/>
                <a:cs typeface="Orbitron"/>
                <a:sym typeface="Orbitron"/>
              </a:rPr>
              <a:t>Sua Responsabilidade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534150" y="3705225"/>
            <a:ext cx="4876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Escolher a imagem do SO (ex: Ubuntu), definir o tamanho da instância (CPU/RAM) e gerenciar as aplicações.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57412" y="53530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48000" y="2524125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86800" y="252412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485775" y="485775"/>
            <a:ext cx="117062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Orbitron"/>
                <a:ea typeface="Orbitron"/>
                <a:cs typeface="Orbitron"/>
                <a:sym typeface="Orbitron"/>
              </a:rPr>
              <a:t>IaaS (Infraestrutura como Serviço)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485775" y="1123950"/>
            <a:ext cx="11220450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81025" y="581025"/>
            <a:ext cx="5540692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Orbitron"/>
                <a:ea typeface="Orbitron"/>
                <a:cs typeface="Orbitron"/>
                <a:sym typeface="Orbitron"/>
              </a:rPr>
              <a:t>Acesso web (Firewall e Portas)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81025" y="1714500"/>
            <a:ext cx="5276850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581025" y="5240684"/>
            <a:ext cx="5276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Atenção:</a:t>
            </a:r>
            <a:r>
              <a:rPr b="0" i="0" lang="en-US" sz="1350" u="none" cap="none" strike="noStrike">
                <a:solidFill>
                  <a:srgbClr val="FCA5A5"/>
                </a:solidFill>
                <a:latin typeface="Roboto"/>
                <a:ea typeface="Roboto"/>
                <a:cs typeface="Roboto"/>
                <a:sym typeface="Roboto"/>
              </a:rPr>
              <a:t> Sem liberar a porta na nuvem (Security Group), sua aplicação fica isolada.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62025" y="2507009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Não basta rodar o Docker na nuvem; a porta precisa estar aberta para o mundo exterior.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62025" y="3354734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3F4F6"/>
                </a:solidFill>
                <a:latin typeface="Roboto"/>
                <a:ea typeface="Roboto"/>
                <a:cs typeface="Roboto"/>
                <a:sym typeface="Roboto"/>
              </a:rPr>
              <a:t>Acesso Externo: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 O usuário digita a URL e bate na porta pública do servidor.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62025" y="4202459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3F4F6"/>
                </a:solidFill>
                <a:latin typeface="Roboto"/>
                <a:ea typeface="Roboto"/>
                <a:cs typeface="Roboto"/>
                <a:sym typeface="Roboto"/>
              </a:rPr>
              <a:t>Mapeamento: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 O Docker pega essa requisição e redireciona para a porta interna.</a:t>
            </a:r>
            <a:endParaRPr/>
          </a:p>
        </p:txBody>
      </p:sp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288309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54510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39283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240559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2558355"/>
            <a:ext cx="5467350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558355"/>
            <a:ext cx="5467350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485775" y="1842194"/>
            <a:ext cx="112204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Usaremos </a:t>
            </a:r>
            <a:r>
              <a:rPr b="1" i="0" lang="en-US" sz="1650" u="none" cap="none" strike="noStrike">
                <a:solidFill>
                  <a:srgbClr val="F3F4F6"/>
                </a:solidFill>
                <a:latin typeface="Roboto"/>
                <a:ea typeface="Roboto"/>
                <a:cs typeface="Roboto"/>
                <a:sym typeface="Roboto"/>
              </a:rPr>
              <a:t>Ambientes de Nuvem via Browser</a:t>
            </a:r>
            <a:r>
              <a:rPr b="0" i="0" lang="en-US" sz="1650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 (sem gastar recursos locais):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485775" y="5653980"/>
            <a:ext cx="11220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Ambos simulam perfeitamente a experiência de acessar um servidor IaaS via terminal.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1479232" y="3587055"/>
            <a:ext cx="348043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78BFA"/>
                </a:solidFill>
                <a:latin typeface="Orbitron"/>
                <a:ea typeface="Orbitron"/>
                <a:cs typeface="Orbitron"/>
                <a:sym typeface="Orbitron"/>
              </a:rPr>
              <a:t>1. GitHub Codespaces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781050" y="4063305"/>
            <a:ext cx="487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Ideal para quem já possui o repositório do projeto no GitHub. É um ambiente completo de desenvolvimento e nuvem.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7357348" y="3587055"/>
            <a:ext cx="323040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78BFA"/>
                </a:solidFill>
                <a:latin typeface="Orbitron"/>
                <a:ea typeface="Orbitron"/>
                <a:cs typeface="Orbitron"/>
                <a:sym typeface="Orbitron"/>
              </a:rPr>
              <a:t>2. Play with Docker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534150" y="4063305"/>
            <a:ext cx="4876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Terminal Linux limpo para testes rápidos. Excelente para focar estritamente nos comandos do Docker via IaaS.</a:t>
            </a:r>
            <a:endParaRPr/>
          </a:p>
        </p:txBody>
      </p:sp>
      <p:pic>
        <p:nvPicPr>
          <p:cNvPr descr="image.png" id="147" name="Google Shape;14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95612" y="2882205"/>
            <a:ext cx="4476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86800" y="288220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485775" y="485775"/>
            <a:ext cx="117062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Orbitron"/>
                <a:ea typeface="Orbitron"/>
                <a:cs typeface="Orbitron"/>
                <a:sym typeface="Orbitron"/>
              </a:rPr>
              <a:t>O nosso Laboratório de Hoje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485775" y="1123950"/>
            <a:ext cx="11220450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2190750" y="2357437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3F4F6"/>
                </a:solidFill>
                <a:latin typeface="Roboto"/>
                <a:ea typeface="Roboto"/>
                <a:cs typeface="Roboto"/>
                <a:sym typeface="Roboto"/>
              </a:rPr>
              <a:t>Passo 1: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 Abra o documento "Guia Prático Assíncrono: IaaS e Docker" disponível na sua plataforma de ensino.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2190750" y="3205162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3F4F6"/>
                </a:solidFill>
                <a:latin typeface="Roboto"/>
                <a:ea typeface="Roboto"/>
                <a:cs typeface="Roboto"/>
                <a:sym typeface="Roboto"/>
              </a:rPr>
              <a:t>Passo 2: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 Siga o roteiro passo a passo para subir sua instância, rodar o Docker e mapear a porta da aplicação.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2190750" y="4052887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3F4F6"/>
                </a:solidFill>
                <a:latin typeface="Roboto"/>
                <a:ea typeface="Roboto"/>
                <a:cs typeface="Roboto"/>
                <a:sym typeface="Roboto"/>
              </a:rPr>
              <a:t>Passo 3: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 Faça as capturas de tela exigidas no checklist final para comprovar a execução do laboratório.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2190750" y="4900612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3F4F6"/>
                </a:solidFill>
                <a:latin typeface="Roboto"/>
                <a:ea typeface="Roboto"/>
                <a:cs typeface="Roboto"/>
                <a:sym typeface="Roboto"/>
              </a:rPr>
              <a:t>Passo 4: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 Encerre o container () e submeta os relatórios para validar a entrega!</a:t>
            </a:r>
            <a:endParaRPr/>
          </a:p>
        </p:txBody>
      </p:sp>
      <p:pic>
        <p:nvPicPr>
          <p:cNvPr descr="image.png" id="160" name="Google Shape;16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3925" y="4891087"/>
            <a:ext cx="1429047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23955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2432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0909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09750" y="493871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485775" y="485775"/>
            <a:ext cx="117062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Orbitron"/>
                <a:ea typeface="Orbitron"/>
                <a:cs typeface="Orbitron"/>
                <a:sym typeface="Orbitron"/>
              </a:rPr>
              <a:t>Missão Assíncrona (Mão na Massa)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485775" y="1123950"/>
            <a:ext cx="11220450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/>
          <p:nvPr/>
        </p:nvSpPr>
        <p:spPr>
          <a:xfrm>
            <a:off x="485775" y="3021359"/>
            <a:ext cx="112204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485775" y="3994695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485775" y="3994695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775" y="326990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1581150" y="3164234"/>
            <a:ext cx="101250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https://media.istockphoto.com/id/2203229031/photo/server-racks-full-of-routers-switches-and-servers-aligning-on-both-sides-of-an-aisle-of-a.jpg?s=612x612&amp;w=0&amp;k=20&amp;c=rI1TinSZknIZrnaSGIhUpQUU0E9MCrd6LOFCWFtaRhk=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1581150" y="3608040"/>
            <a:ext cx="101250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www.istockphoto.com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485775" y="485775"/>
            <a:ext cx="117062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Orbitron"/>
                <a:ea typeface="Orbitron"/>
                <a:cs typeface="Orbitron"/>
                <a:sym typeface="Orbitron"/>
              </a:rPr>
              <a:t>Image Sources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485775" y="1123950"/>
            <a:ext cx="11220450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