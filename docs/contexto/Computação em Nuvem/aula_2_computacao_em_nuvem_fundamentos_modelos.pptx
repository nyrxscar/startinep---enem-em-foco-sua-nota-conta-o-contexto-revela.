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conectando com a aula inaugural. Explique que hoje o foco é responder: quando uma solução é realmente nuvem e qual modelo faz sentido para cada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aula como ponte: ainda não vamos configurar redes, banco ou serverless. Vamos preparar a decisão arquitetural.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voto rápido: sim, não, depende. Segure a resposta completa para 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esse slide como contrato da aula. Indique que a última parte será aplicada e exigirá justificativa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em grupos pequenos. Não corrija de imediato. Colete hipóteses no quadro para usar na exposição.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há camadas: hardware não desaparece. A inovação é operacional: abstração, automação e consumo como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Essas características são a régua de análise da atividade. Repita: uma só característica isolada não basta.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votação rápida. O objetivo é revelar concepções prévias. Retome no fechamento com as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Enfatize que nuvem não é necessariamente barata; ela dá opções e velocidade. O valor vem do uso adequado.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Traga exemplo: Black Friday, matrícula, treinamento de modelo, processamento semanal.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não é disputa simples. Há casos em que nuvem é ótima e casos em que pode custar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já introduza responsabilidade e governança de custos. Peça exemplos de desperdício tecnológico.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modelo de implantação não é IaaS/PaaS/SaaS. Isso virá na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Conduza como matriz de decisão. Cada grupo deverá usar pelo menos três critérios na 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 pela sala. Exija justificativa: não basta dizer “pública porque é mais fácil”.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aprofunde ainda IaaS/PaaS/SaaS; o objetivo é preparar 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apenas o necessário. Evite virar tutorial de provedor. Pergunte sempre: onde está o conceito?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não houver ambiente real, use simulador, prints ou demonstração guiada. O importante é a leitura arquitetural.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feedback curto. Reforce termos técnicos que aparecerem de forma imprecisa.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Volte às cinco afirmações. Mostre que a resposta mais forte é evidencial, não baseada em opinião.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Publique a atividade no AVA. Reforce que “depende” é aceitável se vier acompanhado de critérios.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Indique as referências sem atribuir páginas específicas. Você pode complementar com documentação técnica atualizada no 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pergunta para a próxima aula, preparando a transição para modelos de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igh_tech_scene_of_a_server_data_c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>
              <a:alpha val="77000"/>
            </a:srgbClr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>
              <a:alpha val="65000"/>
            </a:srgbClr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594360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38BDF8">
              <a:alpha val="18000"/>
            </a:srgbClr>
          </a:solidFill>
          <a:ln w="1016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" y="667512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AULA 2 • 3 HORAS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8595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Fundamentos, vantagens 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 de implantação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28163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Computação em Nuvem aplicada à Ciência de Dados e 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6144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Prof. Felipe Sovernigo • UniSENAI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RETOMADA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esta aula se encaixa?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A aula inaugural abriu a disciplina. Agora avançamos para a primeira decisão técnica: reconhecer quando a nuvem faz sentido e escolher o modelo de implantação.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2395728" cy="1572768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077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2735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Compreender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703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 que caracteriza a nuvem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0" y="2743200"/>
            <a:ext cx="2395728" cy="1572768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9077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32735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Comparar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94760" y="3703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Infraestrutura local × nuvem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2743200"/>
            <a:ext cx="2395728" cy="1572768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9077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2735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Escolher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Pública, privada ou híbrida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35440" y="2743200"/>
            <a:ext cx="2395728" cy="1572768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29077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72600" y="32735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Justificar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72600" y="3703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Custos, segurança e requisitos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BD5E1"/>
                </a:solidFill>
              </a:rPr>
              <a:t>Objeto central da aula: vantagens da computação em nuvem + modelos de implantação + filosofia de preços.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Questão norteadora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“Todo servidor remoto acessado pela Internet está na nuvem?”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017520" y="2788920"/>
            <a:ext cx="6126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03120" y="2487168"/>
            <a:ext cx="594360" cy="594360"/>
          </a:xfrm>
          <a:prstGeom prst="ellipse">
            <a:avLst/>
          </a:prstGeom>
          <a:solidFill>
            <a:srgbClr val="2563EB">
              <a:alpha val="17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54203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🖥️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Servidor remoto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2487168"/>
            <a:ext cx="594360" cy="594360"/>
          </a:xfrm>
          <a:prstGeom prst="ellipse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54203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☁️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246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Computação em nuvem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977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Acesso por rede é necessário.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Mas não é suficiente.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da aula de 3 horas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1207008"/>
            <a:ext cx="10469880" cy="457200"/>
          </a:xfrm>
          <a:prstGeom prst="roundRect">
            <a:avLst>
              <a:gd name="adj" fmla="val 8000"/>
            </a:avLst>
          </a:prstGeom>
          <a:solidFill>
            <a:srgbClr val="0F172A">
              <a:alpha val="9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80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0–20 min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31720" y="12801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Retomada e diagnóstico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28016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O que a turma já entende por nuvem?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19385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20–45 min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1720" y="19385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Situação-problema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938528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A empresa DataVision “já está na nuvem”?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2523744"/>
            <a:ext cx="10469880" cy="457200"/>
          </a:xfrm>
          <a:prstGeom prst="roundRect">
            <a:avLst>
              <a:gd name="adj" fmla="val 8000"/>
            </a:avLst>
          </a:prstGeom>
          <a:solidFill>
            <a:srgbClr val="0F172A">
              <a:alpha val="9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5968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45–85 min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2596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Fundamentos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2596896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Data center, virtualização, nuvem e características essenciais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32552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85–100 min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31720" y="32552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Intervalo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3255264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3840480"/>
            <a:ext cx="10469880" cy="457200"/>
          </a:xfrm>
          <a:prstGeom prst="roundRect">
            <a:avLst>
              <a:gd name="adj" fmla="val 8000"/>
            </a:avLst>
          </a:prstGeom>
          <a:solidFill>
            <a:srgbClr val="0F172A">
              <a:alpha val="9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13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100–130 min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31720" y="39136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Vantagens e preços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913632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Elasticidade, escalabilidade, disponibilidade, CAPEX/OPEX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05840" y="45720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130–165 min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31720" y="45720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Modelos de implantação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457200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Pública, privada, híbrida e decisão técnica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" y="5157216"/>
            <a:ext cx="10469880" cy="457200"/>
          </a:xfrm>
          <a:prstGeom prst="roundRect">
            <a:avLst>
              <a:gd name="adj" fmla="val 8000"/>
            </a:avLst>
          </a:prstGeom>
          <a:solidFill>
            <a:srgbClr val="0F172A">
              <a:alpha val="9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230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165–180 min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331720" y="523036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Socialização e fechamento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5230368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Defesa das escolhas e encaminhamento do AVA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DE CASO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Situação-problema: DataVision</a:t>
            </a:r>
            <a:endParaRPr lang="en-US" sz="2600" dirty="0"/>
          </a:p>
        </p:txBody>
      </p:sp>
      <p:pic>
        <p:nvPicPr>
          <p:cNvPr id="8" name="Image 0" descr="/mnt/data/wide_clean_high_resolution_tech_infographic_styl_batch_2.png">    </p:cNvPr>
          <p:cNvPicPr>
            <a:picLocks noChangeAspect="1"/>
          </p:cNvPicPr>
          <p:nvPr/>
        </p:nvPicPr>
        <p:blipFill>
          <a:blip r:embed="rId1"/>
          <a:srcRect l="0" r="34241" t="0" b="0"/>
          <a:stretch/>
        </p:blipFill>
        <p:spPr>
          <a:xfrm>
            <a:off x="6400800" y="1234440"/>
            <a:ext cx="507492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234440"/>
            <a:ext cx="5074920" cy="4343400"/>
          </a:xfrm>
          <a:prstGeom prst="rect">
            <a:avLst/>
          </a:prstGeom>
          <a:solidFill>
            <a:srgbClr val="020617">
              <a:alpha val="65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4173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Uma empresa executa análises de imagens industriais em um servidor físico acessado pela Internet. A capacidade é fixa, backups são manuais e picos de demanda causam lentidão.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2788920"/>
            <a:ext cx="48920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32 GB de memória e 4 TB locais
</a:t>
            </a:r>
            <a:endParaRPr lang="en-US" sz="1450" dirty="0"/>
          </a:p>
          <a:p>
            <a:r>
              <a:rPr lang="en-US" sz="145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Acesso remoto por Internet
</a:t>
            </a:r>
            <a:endParaRPr lang="en-US" sz="1450" dirty="0"/>
          </a:p>
          <a:p>
            <a:r>
              <a:rPr lang="en-US" sz="145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Compra de hardware para crescer
</a:t>
            </a:r>
            <a:endParaRPr lang="en-US" sz="1450" dirty="0"/>
          </a:p>
          <a:p>
            <a:r>
              <a:rPr lang="en-US" sz="145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Cobrança mensal fixa
</a:t>
            </a:r>
            <a:endParaRPr lang="en-US" sz="1450" dirty="0"/>
          </a:p>
          <a:p>
            <a:r>
              <a:rPr lang="en-US" sz="145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Baixa automação operacional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14400" y="4983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Desafio: isso é computação em nuvem ou apenas infraestrutura remota?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infraestrutura física ao serviço em nuvem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23160" y="2331720"/>
            <a:ext cx="56692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2331720"/>
            <a:ext cx="56692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37960" y="2331720"/>
            <a:ext cx="56692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2331720"/>
            <a:ext cx="56692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1828800"/>
            <a:ext cx="1700784" cy="1060704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9339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Infraestrutura física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5528" y="235915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servidores, storage, rede, energia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926080" y="1828800"/>
            <a:ext cx="1700784" cy="1060704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199339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Data center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35808" y="235915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ambiente controlado e redundante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166360" y="1828800"/>
            <a:ext cx="1700784" cy="1060704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199339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Virtualização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76088" y="235915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abstração e isolamento lógico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406640" y="1828800"/>
            <a:ext cx="1700784" cy="1060704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99339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Automação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16368" y="235915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provisionamento e orquestração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646920" y="1828800"/>
            <a:ext cx="1700784" cy="1060704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1778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6648" y="199339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Serviços de nuvem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756648" y="235915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catálogo sob demanda e mensuração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097280" y="4160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Virtualização ajuda, mas a nuvem exige também autosserviço, automação, elasticidade, medição e modelo de serviço.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características essenciais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15087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" y="1810512"/>
            <a:ext cx="594360" cy="594360"/>
          </a:xfrm>
          <a:prstGeom prst="ellipse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8653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🕹️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64792" y="1801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Autosserviço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64792" y="2167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solicitar recursos sem processo manual longo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5087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1810512"/>
            <a:ext cx="594360" cy="594360"/>
          </a:xfrm>
          <a:prstGeom prst="ellipse">
            <a:avLst/>
          </a:prstGeom>
          <a:solidFill>
            <a:srgbClr val="2563EB">
              <a:alpha val="17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8653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76672" y="1801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Acesso por rede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76672" y="2167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interfaces web, APIs, CLI, VPN ou Internet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2440" y="15087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7032" y="1810512"/>
            <a:ext cx="594360" cy="594360"/>
          </a:xfrm>
          <a:prstGeom prst="ellipse">
            <a:avLst/>
          </a:prstGeom>
          <a:solidFill>
            <a:srgbClr val="6366F1">
              <a:alpha val="17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18653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🧩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88552" y="1801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Recursos compartilhados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88552" y="2167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pool de recursos com isolamento lógico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33832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" y="3685032"/>
            <a:ext cx="594360" cy="594360"/>
          </a:xfrm>
          <a:prstGeom prst="ellipse">
            <a:avLst/>
          </a:prstGeom>
          <a:solidFill>
            <a:srgbClr val="22C55E">
              <a:alpha val="17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373989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↕️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64792" y="36758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Elasticidade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64792" y="40416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aumentar e reduzir conforme a demanda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3832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3685032"/>
            <a:ext cx="594360" cy="594360"/>
          </a:xfrm>
          <a:prstGeom prst="ellipse">
            <a:avLst/>
          </a:prstGeom>
          <a:solidFill>
            <a:srgbClr val="FBBF24">
              <a:alpha val="17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73989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📊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376672" y="36758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Serviço mensurado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76672" y="40416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uso monitorado, governança e cobrança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5532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Use essas características como critério para responder se o cenário DataVision é ou não nuvem.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INTERAÇÃO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 rápido: verdadeiro ou falso?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60120" y="1234440"/>
            <a:ext cx="320040" cy="32004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0759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2527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Todo servidor acessado pela Internet está na nuvem.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38360" y="12893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 / F / depende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2057400"/>
            <a:ext cx="320040" cy="32004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13055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20756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Máquina virtual sempre significa computação em nuvem.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38360" y="21122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 / F / depende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" y="2880360"/>
            <a:ext cx="320040" cy="32004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5351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28986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Na nuvem, não existem servidores físicos.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38360" y="29352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 / F / depende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" y="3703320"/>
            <a:ext cx="320040" cy="32004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77647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37216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A nuvem sempre é mais barata.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38360" y="37581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 / F / depende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120" y="4526280"/>
            <a:ext cx="320040" cy="32004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59943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08760" y="4544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Elasticidade e escalabilidade são sinônimos perfeitos.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38360" y="45811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 / F / depende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Não responda para decorar. Responda usando evidências.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VANTAGENS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organizações adotam nuvem?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0" y="1344168"/>
            <a:ext cx="1188720" cy="603504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0408" y="144475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Agilidade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66360" y="1965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recursos em minutos, não semanas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337217" y="2235708"/>
            <a:ext cx="1188720" cy="603504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1225" y="233629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Elasticidade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17177" y="28575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crescer e reduzir conforme demanda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337217" y="4018788"/>
            <a:ext cx="1188720" cy="603504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1225" y="411937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Disponibilidade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17177" y="46405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redundância e regiões/zonas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4910328"/>
            <a:ext cx="1188720" cy="603504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0408" y="501091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Experimentação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66360" y="5532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testar sem comprar hardware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35583" y="4018788"/>
            <a:ext cx="1188720" cy="603504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9591" y="411937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Foco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15543" y="46405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menos manutenção física, mais produto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35583" y="2235708"/>
            <a:ext cx="1188720" cy="603504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9591" y="233629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Custo sob demanda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15543" y="28575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pagar pelo uso, com governança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83480" y="2377440"/>
            <a:ext cx="2194560" cy="1828800"/>
          </a:xfrm>
          <a:prstGeom prst="ellipse">
            <a:avLst/>
          </a:prstGeom>
          <a:solidFill>
            <a:srgbClr val="0F172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060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8BDF8"/>
                </a:solidFill>
              </a:rPr>
              <a:t>☁️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983480" y="3291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Nuvem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A vantagem não é “mágica”: depende de arquitetura, operação e controle de custos.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CONCEITO-CHAVE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Elasticidade ≠ apenas crescer</a:t>
            </a:r>
            <a:endParaRPr lang="en-US" sz="2600" dirty="0"/>
          </a:p>
        </p:txBody>
      </p:sp>
      <p:pic>
        <p:nvPicPr>
          <p:cNvPr id="8" name="Image 0" descr="/mnt/data/a_wide_cinematic_high_tech_digital_illustration_batch_4.png">    </p:cNvPr>
          <p:cNvPicPr>
            <a:picLocks noChangeAspect="1"/>
          </p:cNvPicPr>
          <p:nvPr/>
        </p:nvPicPr>
        <p:blipFill>
          <a:blip r:embed="rId1"/>
          <a:srcRect l="14519" r="14519" t="0" b="0"/>
          <a:stretch/>
        </p:blipFill>
        <p:spPr>
          <a:xfrm>
            <a:off x="685800" y="1188720"/>
            <a:ext cx="530352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188720"/>
            <a:ext cx="5303520" cy="4206240"/>
          </a:xfrm>
          <a:prstGeom prst="rect">
            <a:avLst/>
          </a:prstGeom>
          <a:solidFill>
            <a:srgbClr val="020617">
              <a:alpha val="5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353312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Escalabilidade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2940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Capacidade de suportar crescimento de carga.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2926080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Elasticidade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629400" y="3584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Ajuste dinâmico: aumentar e reduzir recursos conforme a demanda.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O ganho financeiro aparece quando a redução após o pico também acontece.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Filosofia de preços: CAPEX × OPEX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4709160" cy="306324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554480"/>
            <a:ext cx="4709160" cy="306324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</a:rPr>
              <a:t>CAPEX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Compra de infraestrutura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39776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alto investimento inicial
</a:t>
            </a:r>
            <a:endParaRPr lang="en-US" sz="1300" dirty="0"/>
          </a:p>
          <a:p>
            <a:r>
              <a:rPr lang="en-US" sz="130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capacidade planejada com antecedência
</a:t>
            </a:r>
            <a:endParaRPr lang="en-US" sz="1300" dirty="0"/>
          </a:p>
          <a:p>
            <a:r>
              <a:rPr lang="en-US" sz="130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risco de ociosidade ou falta de recursos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</a:rPr>
              <a:t>OPEX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03720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Consumo como serviço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2743200"/>
            <a:ext cx="39776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pagamento recorrente pelo uso
</a:t>
            </a:r>
            <a:endParaRPr lang="en-US" sz="1300" dirty="0"/>
          </a:p>
          <a:p>
            <a:r>
              <a:rPr lang="en-US" sz="130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ajuste conforme demanda
</a:t>
            </a:r>
            <a:endParaRPr lang="en-US" sz="1300" dirty="0"/>
          </a:p>
          <a:p>
            <a:r>
              <a:rPr lang="en-US" sz="130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exige governança para evitar desperdício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3035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Pergunta de decisão: o perfil de uso é previsível, constante, esporádico ou sazonal?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ATENÇÃO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na nuvem: ligado pode custar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O modelo sob demanda muda a pergunta: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“Quanto custa comprar?”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669280" y="2487168"/>
            <a:ext cx="91440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62940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“Quanto custa manter em uso?”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11680" y="36576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Máquina virtual ligada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365760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pode gerar cobrança mesmo sem usuários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11680" y="4114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Armazenamento esquecido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74920" y="411480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continua consumindo espaço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11680" y="45720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Transferência de dados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74920" y="457200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pode aparecer como custo separado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11680" y="5029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Recursos superdimensionados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502920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pagamento por capacidade não utilizada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7280" y="57150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BBF24"/>
                </a:solidFill>
              </a:rPr>
              <a:t>Regra prática: todo recurso criado precisa ter dono, finalidade, prazo e forma de desligamento.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ARQUITETURAL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 de implantação em nuvem</a:t>
            </a:r>
            <a:endParaRPr lang="en-US" sz="2600" dirty="0"/>
          </a:p>
        </p:txBody>
      </p:sp>
      <p:pic>
        <p:nvPicPr>
          <p:cNvPr id="8" name="Image 0" descr="/mnt/data/a_wide_high_resolution_futuristic_digital_infogr_batch_3.png">    </p:cNvPr>
          <p:cNvPicPr>
            <a:picLocks noChangeAspect="1"/>
          </p:cNvPicPr>
          <p:nvPr/>
        </p:nvPicPr>
        <p:blipFill>
          <a:blip r:embed="rId1"/>
          <a:srcRect l="16291" r="16291" t="0" b="0"/>
          <a:stretch/>
        </p:blipFill>
        <p:spPr>
          <a:xfrm>
            <a:off x="6080760" y="1234440"/>
            <a:ext cx="5257800" cy="4389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0760" y="1234440"/>
            <a:ext cx="5257800" cy="4389120"/>
          </a:xfrm>
          <a:prstGeom prst="rect">
            <a:avLst/>
          </a:prstGeom>
          <a:solidFill>
            <a:srgbClr val="020617">
              <a:alpha val="55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4173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Nuvem pública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176479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CBD5E1"/>
                </a:solidFill>
              </a:rPr>
              <a:t>Infraestrutura de provedor externo, escalável e acessível por serviços compartilhados.</a:t>
            </a:r>
            <a:endParaRPr lang="en-US" sz="1270" dirty="0"/>
          </a:p>
        </p:txBody>
      </p:sp>
      <p:sp>
        <p:nvSpPr>
          <p:cNvPr id="12" name="Text 9"/>
          <p:cNvSpPr/>
          <p:nvPr/>
        </p:nvSpPr>
        <p:spPr>
          <a:xfrm>
            <a:off x="868680" y="2743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Nuvem privada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309067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CBD5E1"/>
                </a:solidFill>
              </a:rPr>
              <a:t>Ambiente dedicado a uma organização, com maior controle e gestão própria ou contratada.</a:t>
            </a:r>
            <a:endParaRPr lang="en-US" sz="1270" dirty="0"/>
          </a:p>
        </p:txBody>
      </p:sp>
      <p:sp>
        <p:nvSpPr>
          <p:cNvPr id="14" name="Text 11"/>
          <p:cNvSpPr/>
          <p:nvPr/>
        </p:nvSpPr>
        <p:spPr>
          <a:xfrm>
            <a:off x="868680" y="4069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Nuvem híbrida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" y="44165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CBD5E1"/>
                </a:solidFill>
              </a:rPr>
              <a:t>Combina recursos públicos e privados, integrando dados, aplicações e governança.</a:t>
            </a:r>
            <a:endParaRPr lang="en-US" sz="1270" dirty="0"/>
          </a:p>
        </p:txBody>
      </p:sp>
      <p:sp>
        <p:nvSpPr>
          <p:cNvPr id="16" name="Shape 13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escolher o modelo?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24712" y="1645920"/>
            <a:ext cx="502920" cy="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463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Controle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18105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Quem administra infraestrutura e políticas?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382512" y="1645920"/>
            <a:ext cx="502920" cy="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463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Segurança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18105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Quais dados são sensíveis ou regulados?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1124712" y="2852928"/>
            <a:ext cx="502920" cy="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6700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Custo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83080" y="30175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Uso é constante, variável ou esporádico?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382512" y="2852928"/>
            <a:ext cx="502920" cy="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6700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Escala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0175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Há picos de demanda ou crescimento rápido?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1124712" y="4059936"/>
            <a:ext cx="502920" cy="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38770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Integração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42245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Sistemas legados precisam continuar locais?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382512" y="4059936"/>
            <a:ext cx="502920" cy="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8770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Equipe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2245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</a:rPr>
              <a:t>Há maturidade operacional para gerir o ambiente?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914400" y="54864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Boa decisão arquitetural = requisito + restrição + justificativa.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APRENDIZAGEM ATIVA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em grupos: qual modelo?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Para cada cenário, selecione pública, privada ou híbrida — e defenda a decisão em até 2 minutos.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677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258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Startup de IA precisa treinar modelos por poucas horas por semana.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05740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677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2258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Hospital armazena dados sensíveis e integra sistemas legados internos.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7764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7673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Indústria quer manter ERP local, mas publicar dashboards analíticos escaláveis.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356616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7764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95160" y="37673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E-commerce sofre picos intensos em campanhas promocionais.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97280" y="54406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Entrega: modelo escolhido + 3 critérios usados + principal risco da decisão.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Introdução à responsabilidade compartilhada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Migrar para a nuvem não transfere todas as responsabilidades para o provedor.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24028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542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Provedor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34440" y="2971800"/>
            <a:ext cx="3931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data center físico
</a:t>
            </a:r>
            <a:endParaRPr lang="en-US" sz="1220" dirty="0"/>
          </a:p>
          <a:p>
            <a:r>
              <a:rPr lang="en-US" sz="12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hardware e energia
</a:t>
            </a:r>
            <a:endParaRPr lang="en-US" sz="1220" dirty="0"/>
          </a:p>
          <a:p>
            <a:r>
              <a:rPr lang="en-US" sz="12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serviços gerenciados
</a:t>
            </a:r>
            <a:endParaRPr lang="en-US" sz="1220" dirty="0"/>
          </a:p>
          <a:p>
            <a:r>
              <a:rPr lang="en-US" sz="12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disponibilidade da plataforma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858000" y="2542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</a:rPr>
              <a:t>Cliente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03720" y="2971800"/>
            <a:ext cx="3931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usuários e permissões
</a:t>
            </a:r>
            <a:endParaRPr lang="en-US" sz="1220" dirty="0"/>
          </a:p>
          <a:p>
            <a:r>
              <a:rPr lang="en-US" sz="12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dados e configurações
</a:t>
            </a:r>
            <a:endParaRPr lang="en-US" sz="1220" dirty="0"/>
          </a:p>
          <a:p>
            <a:r>
              <a:rPr lang="en-US" sz="12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aplicações e segredos
</a:t>
            </a:r>
            <a:endParaRPr lang="en-US" sz="1220" dirty="0"/>
          </a:p>
          <a:p>
            <a:r>
              <a:rPr lang="en-US" sz="12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conformidade do uso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7185"/>
                </a:solidFill>
              </a:rPr>
              <a:t>Exemplo: uma senha exposta no código dificilmente é “culpa da nuvem”.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PRÁTICA ORIENTADA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Demonstração guiada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No console, simulador ou ambiente institucional, observe as evidências de nuvem.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2286000"/>
            <a:ext cx="594360" cy="594360"/>
          </a:xfrm>
          <a:prstGeom prst="ellipse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4086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Região / zona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83080" y="2679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onde o recurso será criado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480560" y="2286000"/>
            <a:ext cx="594360" cy="594360"/>
          </a:xfrm>
          <a:prstGeom prst="ellipse">
            <a:avLst/>
          </a:prstGeom>
          <a:solidFill>
            <a:srgbClr val="2563EB">
              <a:alpha val="17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34086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1208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Catálogo de serviços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212080" y="2679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computação, rede, storage, banco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909560" y="2286000"/>
            <a:ext cx="594360" cy="594360"/>
          </a:xfrm>
          <a:prstGeom prst="ellipse">
            <a:avLst/>
          </a:prstGeom>
          <a:solidFill>
            <a:srgbClr val="6366F1">
              <a:alpha val="17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34086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⚙️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4108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Capacidade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41080" y="2679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tamanho e configuração do recurso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051560" y="3611880"/>
            <a:ext cx="594360" cy="594360"/>
          </a:xfrm>
          <a:prstGeom prst="ellipse">
            <a:avLst/>
          </a:prstGeom>
          <a:solidFill>
            <a:srgbClr val="FBBF24">
              <a:alpha val="17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66674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Preço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783080" y="4005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estimativa ou métrica de consumo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480560" y="3611880"/>
            <a:ext cx="594360" cy="594360"/>
          </a:xfrm>
          <a:prstGeom prst="ellipse">
            <a:avLst/>
          </a:prstGeom>
          <a:solidFill>
            <a:srgbClr val="22C55E">
              <a:alpha val="17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66674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21208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Estado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12080" y="4005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criar, alterar, desligar e excluir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909560" y="3611880"/>
            <a:ext cx="594360" cy="594360"/>
          </a:xfrm>
          <a:prstGeom prst="ellipse">
            <a:avLst/>
          </a:prstGeom>
          <a:solidFill>
            <a:srgbClr val="FB7185">
              <a:alpha val="17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366674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📈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64108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Métricas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641080" y="4005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uso, logs e eventos do recurso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051560" y="5669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Procure no ambiente as cinco características essenciais da nuvem.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MÃO NA MASSA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Laboratório: exploração inicial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05840" y="1417320"/>
            <a:ext cx="457200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Parte técnica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240280"/>
            <a:ext cx="38404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Acessar o ambiente
</a:t>
            </a:r>
            <a:endParaRPr lang="en-US" sz="1420" dirty="0"/>
          </a:p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Identificar região/zona
</a:t>
            </a:r>
            <a:endParaRPr lang="en-US" sz="1420" dirty="0"/>
          </a:p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Localizar serviços de computação
</a:t>
            </a:r>
            <a:endParaRPr lang="en-US" sz="1420" dirty="0"/>
          </a:p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Localizar armazenamento
</a:t>
            </a:r>
            <a:endParaRPr lang="en-US" sz="1420" dirty="0"/>
          </a:p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Encontrar modelo de preços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583680" y="1417320"/>
            <a:ext cx="457200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Parte de governança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03720" y="2240280"/>
            <a:ext cx="38404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Registrar evidências
</a:t>
            </a:r>
            <a:endParaRPr lang="en-US" sz="1420" dirty="0"/>
          </a:p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Anotar dúvidas
</a:t>
            </a:r>
            <a:endParaRPr lang="en-US" sz="1420" dirty="0"/>
          </a:p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Evitar criar recursos pagos
</a:t>
            </a:r>
            <a:endParaRPr lang="en-US" sz="1420" dirty="0"/>
          </a:p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Encerrar recursos criados
</a:t>
            </a:r>
            <a:endParaRPr lang="en-US" sz="1420" dirty="0"/>
          </a:p>
          <a:p>
            <a:r>
              <a:rPr lang="en-US" sz="1420" b="1" dirty="0">
                <a:solidFill>
                  <a:srgbClr val="38BDF8"/>
                </a:solidFill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Entregar checklist no AVA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914400" y="55778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Meta: reconhecer recursos, custos e controles — não decorar nomes comerciais.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FORMATIVA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Socialização: defenda sua decisão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Cada grupo apresenta um cenário e defende o modelo escolhido.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2240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8488" y="2441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Requisitos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15568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identificou necessidades reais?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154680" y="2240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2441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Modelo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64408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a escolha é coerente?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303520" y="2240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16168" y="2441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Custos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13248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considerou perfil de uso?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452360" y="2240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2441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Segurança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62088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identificou dados e riscos?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601200" y="2240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13848" y="2441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3836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Argumento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10928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defendeu com critérios?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BBF24"/>
                </a:solidFill>
              </a:rPr>
              <a:t>A qualidade da resposta está menos no “modelo correto” e mais na justificativa.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Retomando a pergunta inicial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</a:rPr>
              <a:t>Servidor remoto ≠ automaticamente nuvem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Acesso por rede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83480" y="2414016"/>
            <a:ext cx="4572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3317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necessário, mas insuficiente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8346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Virtualização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83480" y="2916936"/>
            <a:ext cx="4572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8346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tecnologia habilitadora, não sinônimo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3375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Elasticidade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83480" y="3419856"/>
            <a:ext cx="4572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333756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crescer e reduzir dinamicamente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8404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Mensuração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3922776"/>
            <a:ext cx="4572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384048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controle de uso, custos e governança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4343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Modelo de implantação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4425696"/>
            <a:ext cx="4572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434340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decisão baseada em requisitos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53212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Próxima aula: IaaS, PaaS, SaaS e responsabilidade compartilhada em mais detalhes.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ENCAMINHAMENTO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EaD / AVA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Análise de migração: infraestrutura local ou nuvem?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2103120"/>
            <a:ext cx="1001268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Cenário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346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Uma pequena empresa executa semanalmente um processamento de dados com alta demanda computacional por poucas horas. Fora desse período, a infraestrutura fica ociosa.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70332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Entrega: texto de 300 a 500 palavras justificando vantagens, riscos, elasticidade, custos e informações adicionais necessárias.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Critérios: aplicação correta dos conceitos • qualidade da justificativa • clareza • identificação de dados ausentes.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BIBLIOGRAFIA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621792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5303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básicas da aula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60120" y="1508760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71907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VERAS, Manoel. Cloud computing: nova arquitetura da TI. Brasport, 2012.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2679192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889504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VELTE, Anthony T.; VELTE, Toby J.; ELSENPETER, Robert. Cloud computing: computação em nuvem: uma abordagem prática. Alta Books, 2012.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3849624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4059936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VICAT-BLANC, Pascale et al. Computing networks: from cluster to cloud computing. ISTE, 2011.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5532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BD5E1"/>
                </a:solidFill>
              </a:rPr>
              <a:t>Leituras complementares e materiais de apoio serão disponibilizados no AVA conforme o andamento da unidade curricular.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05840"/>
            <a:ext cx="4389120" cy="4389120"/>
          </a:xfrm>
          <a:prstGeom prst="arc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029200"/>
            <a:ext cx="4297680" cy="4297680"/>
          </a:xfrm>
          <a:prstGeom prst="arc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</a:rPr>
              <a:t>Próximo passo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Se a nuvem oferece diferentes níveis de abstração,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quanto controle o cliente quer — e quanto trabalho operacional ele aceita?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389120" y="3977640"/>
            <a:ext cx="3383280" cy="320040"/>
          </a:xfrm>
          <a:prstGeom prst="roundRect">
            <a:avLst>
              <a:gd name="adj" fmla="val 17143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4050792"/>
            <a:ext cx="3163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AULA 3: IAAS • PAAS • SAAS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Dúvidas?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7620">
            <a:solidFill>
              <a:srgbClr val="1E293B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Computação em Nuvem • Aula 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0996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UniSENAI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Fundamentos, vantagens e modelos de implantação em Computação em Nuvem</dc:title>
  <dc:subject>Computação em Nuvem - Aula 2</dc:subject>
  <dc:creator>Felipe Sovernigo</dc:creator>
  <cp:lastModifiedBy>Felipe Sovernigo</cp:lastModifiedBy>
  <cp:revision>1</cp:revision>
  <dcterms:created xsi:type="dcterms:W3CDTF">2026-08-05T04:05:09Z</dcterms:created>
  <dcterms:modified xsi:type="dcterms:W3CDTF">2026-08-05T04:05:09Z</dcterms:modified>
</cp:coreProperties>
</file>